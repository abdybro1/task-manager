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Дәріс 5. DHCP хаттамасы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78638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973"/>
                </a:solidFill>
              </a:rPr>
              <a:t>DHCP сервері • динамикалық және статикалық бөлу • DHCP Relay</a:t>
            </a:r>
          </a:p>
        </p:txBody>
      </p:sp>
      <p:sp>
        <p:nvSpPr>
          <p:cNvPr id="4" name="Oval 3"/>
          <p:cNvSpPr/>
          <p:nvPr/>
        </p:nvSpPr>
        <p:spPr>
          <a:xfrm>
            <a:off x="5303520" y="1645920"/>
            <a:ext cx="1143000" cy="566928"/>
          </a:xfrm>
          <a:prstGeom prst="ellipse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559552" y="181051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559552" y="181051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14416" y="1929384"/>
            <a:ext cx="53035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0" y="122529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91E23"/>
                </a:solidFill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267712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191E23"/>
                </a:solidFill>
              </a:rPr>
              <a:t>192.168.1.1/24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2743200"/>
            <a:ext cx="1554480" cy="621792"/>
          </a:xfrm>
          <a:prstGeom prst="rect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34107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91E23"/>
                </a:solidFill>
              </a:rPr>
              <a:t>SW1 (2960)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852160" y="2212848"/>
            <a:ext cx="18288" cy="530352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78992" y="420624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pezoid 13"/>
          <p:cNvSpPr/>
          <p:nvPr/>
        </p:nvSpPr>
        <p:spPr>
          <a:xfrm>
            <a:off x="914400" y="484632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PC1
Static: 192.168.1.101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420624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pezoid 16"/>
          <p:cNvSpPr/>
          <p:nvPr/>
        </p:nvSpPr>
        <p:spPr>
          <a:xfrm>
            <a:off x="4846320" y="484632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51206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PC2
DHCP Client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34272" y="420624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pezoid 19"/>
          <p:cNvSpPr/>
          <p:nvPr/>
        </p:nvSpPr>
        <p:spPr>
          <a:xfrm>
            <a:off x="8869680" y="484632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51206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PC3
DHCP Client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103120" y="3063240"/>
            <a:ext cx="2971800" cy="1463040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486400" y="3364992"/>
            <a:ext cx="137160" cy="841248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629400" y="3063240"/>
            <a:ext cx="2240280" cy="1463040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920240" y="1097280"/>
            <a:ext cx="2743200" cy="6858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37965A"/>
                </a:solidFill>
              </a:rPr>
              <a:t>DHCP мақсаты</a:t>
            </a:r>
          </a:p>
          <a:p>
            <a:r>
              <a:rPr sz="1100">
                <a:solidFill>
                  <a:srgbClr val="142A4A"/>
                </a:solidFill>
              </a:rPr>
              <a:t>IP параметрлерін автоматты беру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097280"/>
            <a:ext cx="2743200" cy="6858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237EB0"/>
                </a:solidFill>
              </a:rPr>
              <a:t>Нәтиже</a:t>
            </a:r>
          </a:p>
          <a:p>
            <a:r>
              <a:rPr sz="1100">
                <a:solidFill>
                  <a:srgbClr val="142A4A"/>
                </a:solidFill>
              </a:rPr>
              <a:t>Қате IP енгізуді азайту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Дәрістің мақсаты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39">
                <a:solidFill>
                  <a:srgbClr val="142A4A"/>
                </a:solidFill>
              </a:defRPr>
            </a:pPr>
            <a:r>
              <a:t>DHCP хаттамасының міндетін және клиент–сервер жұмыс принципін түсіну.</a:t>
            </a:r>
          </a:p>
          <a:p>
            <a:pPr>
              <a:spcAft>
                <a:spcPts val="800"/>
              </a:spcAft>
              <a:defRPr sz="1639">
                <a:solidFill>
                  <a:srgbClr val="142A4A"/>
                </a:solidFill>
              </a:defRPr>
            </a:pPr>
            <a:r>
              <a:t>DORA процесін: Discover → Offer → Request → Acknowledgment кезеңдерімен түсіндіру.</a:t>
            </a:r>
          </a:p>
          <a:p>
            <a:pPr>
              <a:spcAft>
                <a:spcPts val="800"/>
              </a:spcAft>
              <a:defRPr sz="1639">
                <a:solidFill>
                  <a:srgbClr val="142A4A"/>
                </a:solidFill>
              </a:defRPr>
            </a:pPr>
            <a:r>
              <a:t>IP-мекенжайларды статикалық және динамикалық бөлу тәсілдерін салыстыру.</a:t>
            </a:r>
          </a:p>
          <a:p>
            <a:pPr>
              <a:spcAft>
                <a:spcPts val="800"/>
              </a:spcAft>
              <a:defRPr sz="1639">
                <a:solidFill>
                  <a:srgbClr val="142A4A"/>
                </a:solidFill>
              </a:defRPr>
            </a:pPr>
            <a:r>
              <a:t>Cisco Router-ды DHCP Server ретінде негізгі командалармен баптау.</a:t>
            </a:r>
          </a:p>
          <a:p>
            <a:pPr>
              <a:spcAft>
                <a:spcPts val="800"/>
              </a:spcAft>
              <a:defRPr sz="1639">
                <a:solidFill>
                  <a:srgbClr val="142A4A"/>
                </a:solidFill>
              </a:defRPr>
            </a:pPr>
            <a:r>
              <a:t>Excluded address, DHCP pool, default gateway және DNS параметрлерінің қызметін түсіну.</a:t>
            </a:r>
          </a:p>
          <a:p>
            <a:pPr>
              <a:spcAft>
                <a:spcPts val="800"/>
              </a:spcAft>
              <a:defRPr sz="1639">
                <a:solidFill>
                  <a:srgbClr val="142A4A"/>
                </a:solidFill>
              </a:defRPr>
            </a:pPr>
            <a:r>
              <a:t>DHCP Relay не үшін қажет екенін және ip helper-address командасының рөлін түсіндіру.</a:t>
            </a:r>
          </a:p>
          <a:p>
            <a:pPr>
              <a:spcAft>
                <a:spcPts val="800"/>
              </a:spcAft>
              <a:defRPr sz="1639">
                <a:solidFill>
                  <a:srgbClr val="142A4A"/>
                </a:solidFill>
              </a:defRPr>
            </a:pPr>
            <a:r>
              <a:t>DHCP жұмысын show және ipconfig командаларымен тексеру.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дегеніміз не?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DHCP — Dynamic Host Configuration Protocol, желідегі клиенттерге IP параметрлерін автоматты түрде беретін хаттама.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Клиент DHCP арқылы IP address, subnet mask, default gateway, DNS server сияқты параметрлерді ала алады.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DHCP әкімшіге әр компьютерге IP-адресті қолмен енгізу қажеттілігін азайтады.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IPv4 DHCP клиент–сервер алмасуында UDP 67 (server) және UDP 68 (client) порттары қолданылады.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41732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237EB0"/>
                </a:solidFill>
              </a:rPr>
              <a:t>Client</a:t>
            </a:r>
          </a:p>
          <a:p>
            <a:r>
              <a:rPr sz="1200">
                <a:solidFill>
                  <a:srgbClr val="142A4A"/>
                </a:solidFill>
              </a:rPr>
              <a:t>IP параметрлерін сұрайды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60604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7965A"/>
                </a:solidFill>
              </a:rPr>
              <a:t>DHCP Server</a:t>
            </a:r>
          </a:p>
          <a:p>
            <a:r>
              <a:rPr sz="1200">
                <a:solidFill>
                  <a:srgbClr val="142A4A"/>
                </a:solidFill>
              </a:rPr>
              <a:t>Бос адрес пен параметрлерді ұсынады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79476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7350A5"/>
                </a:solidFill>
              </a:rPr>
              <a:t>Lease</a:t>
            </a:r>
          </a:p>
          <a:p>
            <a:r>
              <a:rPr sz="1200">
                <a:solidFill>
                  <a:srgbClr val="142A4A"/>
                </a:solidFill>
              </a:rPr>
              <a:t>IP адрес белгілі уақытқа беріледі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983480"/>
            <a:ext cx="3657600" cy="7315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E1782D"/>
                </a:solidFill>
              </a:rPr>
              <a:t>UDP</a:t>
            </a:r>
          </a:p>
          <a:p>
            <a:r>
              <a:rPr sz="1100">
                <a:solidFill>
                  <a:srgbClr val="142A4A"/>
                </a:solidFill>
              </a:rPr>
              <a:t>67 / 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Статикалық және динамикалық IP бөлу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79268">
                <a:tc>
                  <a:txBody>
                    <a:bodyPr/>
                    <a:lstStyle/>
                    <a:p>
                      <a:pPr>
                        <a:defRPr sz="117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70" b="1">
                          <a:solidFill>
                            <a:srgbClr val="FFFFFF"/>
                          </a:solidFill>
                        </a:defRPr>
                      </a:pPr>
                      <a:r>
                        <a:t>Статикалық IP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70" b="1">
                          <a:solidFill>
                            <a:srgbClr val="FFFFFF"/>
                          </a:solidFill>
                        </a:defRPr>
                      </a:pPr>
                      <a:r>
                        <a:t>Динамикалық IP (DHCP)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Орнату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Қолмен енгізіледі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Автоматты беріледі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Адрес өзгеруі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Әдетте тұрақты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Lease/саясатқа байланысты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Әкімшілік еңбек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Көбірек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Аз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Қате енгізу қаупі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Жоғарырақ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Төменірек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Қолданылуы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Server, router, printer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PC, laptop, mobile client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Мысал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192.168.1.101/24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70">
                          <a:solidFill>
                            <a:srgbClr val="142A4A"/>
                          </a:solidFill>
                        </a:defRPr>
                      </a:pPr>
                      <a:r>
                        <a:t>Pool ішінен автоматты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жұмыс принципі: DORA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9601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237EB0"/>
                </a:solidFill>
              </a:rPr>
              <a:t>1. DISCOVER</a:t>
            </a:r>
          </a:p>
          <a:p>
            <a:r>
              <a:rPr sz="1200">
                <a:solidFill>
                  <a:srgbClr val="142A4A"/>
                </a:solidFill>
              </a:rPr>
              <a:t>Клиент DHCP серверін іздейді. Бастапқы сұраныс broadcast түрінде таратылады.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9601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7965A"/>
                </a:solidFill>
              </a:rPr>
              <a:t>2. OFFER</a:t>
            </a:r>
          </a:p>
          <a:p>
            <a:r>
              <a:rPr sz="1200">
                <a:solidFill>
                  <a:srgbClr val="142A4A"/>
                </a:solidFill>
              </a:rPr>
              <a:t>DHCP Server қолжетімді IP адрес пен параметрлерді ұсынады.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20440"/>
            <a:ext cx="10698480" cy="9601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E1782D"/>
                </a:solidFill>
              </a:rPr>
              <a:t>3. REQUEST</a:t>
            </a:r>
          </a:p>
          <a:p>
            <a:r>
              <a:rPr sz="1200">
                <a:solidFill>
                  <a:srgbClr val="142A4A"/>
                </a:solidFill>
              </a:rPr>
              <a:t>Клиент таңдалған ұсынысты қабылдайтынын хабарлап, IP адресін сұрайды.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9601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7350A5"/>
                </a:solidFill>
              </a:rPr>
              <a:t>4. ACK</a:t>
            </a:r>
          </a:p>
          <a:p>
            <a:r>
              <a:rPr sz="1200">
                <a:solidFill>
                  <a:srgbClr val="142A4A"/>
                </a:solidFill>
              </a:rPr>
              <a:t>Server lease-ті растап, клиентке конфигурацияны бекітеді.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DORA: клиент пен сервер арасындағы алмасу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237744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pezoid 3"/>
          <p:cNvSpPr/>
          <p:nvPr/>
        </p:nvSpPr>
        <p:spPr>
          <a:xfrm>
            <a:off x="914400" y="301752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DHCP Client
IP жоқ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148840"/>
            <a:ext cx="914400" cy="1234440"/>
          </a:xfrm>
          <a:prstGeom prst="rect">
            <a:avLst/>
          </a:prstGeom>
          <a:solidFill>
            <a:srgbClr val="D7E6F0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2313432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12680" y="2615184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12680" y="2916936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447288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91E23"/>
                </a:solidFill>
              </a:rPr>
              <a:t>DHCP Server
192.168.1.200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331720"/>
            <a:ext cx="7680960" cy="0"/>
          </a:xfrm>
          <a:prstGeom prst="line">
            <a:avLst/>
          </a:prstGeom>
          <a:ln w="38100">
            <a:solidFill>
              <a:srgbClr val="237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984248"/>
            <a:ext cx="2834640" cy="5943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50" b="1">
                <a:solidFill>
                  <a:srgbClr val="237EB0"/>
                </a:solidFill>
              </a:rPr>
              <a:t>DHCPDISCOVER</a:t>
            </a:r>
          </a:p>
          <a:p>
            <a:r>
              <a:rPr sz="1050">
                <a:solidFill>
                  <a:srgbClr val="142A4A"/>
                </a:solidFill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3154680"/>
            <a:ext cx="7680960" cy="0"/>
          </a:xfrm>
          <a:prstGeom prst="line">
            <a:avLst/>
          </a:prstGeom>
          <a:ln w="38100">
            <a:solidFill>
              <a:srgbClr val="379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2807208"/>
            <a:ext cx="2834640" cy="5943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50" b="1">
                <a:solidFill>
                  <a:srgbClr val="37965A"/>
                </a:solidFill>
              </a:rPr>
              <a:t>DHCPOFFER</a:t>
            </a:r>
          </a:p>
          <a:p>
            <a:r>
              <a:rPr sz="1050">
                <a:solidFill>
                  <a:srgbClr val="142A4A"/>
                </a:solidFill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3977639"/>
            <a:ext cx="7680960" cy="0"/>
          </a:xfrm>
          <a:prstGeom prst="line">
            <a:avLst/>
          </a:prstGeom>
          <a:ln w="38100">
            <a:solidFill>
              <a:srgbClr val="E17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0" y="3630168"/>
            <a:ext cx="2834640" cy="5943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50" b="1">
                <a:solidFill>
                  <a:srgbClr val="E1782D"/>
                </a:solidFill>
              </a:rPr>
              <a:t>DHCPREQUEST</a:t>
            </a:r>
          </a:p>
          <a:p>
            <a:r>
              <a:rPr sz="1050">
                <a:solidFill>
                  <a:srgbClr val="142A4A"/>
                </a:solidFill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800600"/>
            <a:ext cx="7680960" cy="0"/>
          </a:xfrm>
          <a:prstGeom prst="line">
            <a:avLst/>
          </a:prstGeom>
          <a:ln w="38100">
            <a:solidFill>
              <a:srgbClr val="7350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0" y="4453128"/>
            <a:ext cx="2834640" cy="5943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50" b="1">
                <a:solidFill>
                  <a:srgbClr val="7350A5"/>
                </a:solidFill>
              </a:rPr>
              <a:t>DHCPACK</a:t>
            </a:r>
          </a:p>
          <a:p>
            <a:r>
              <a:rPr sz="1050">
                <a:solidFill>
                  <a:srgbClr val="142A4A"/>
                </a:solidFill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257800"/>
            <a:ext cx="6400800" cy="7315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7965A"/>
                </a:solidFill>
              </a:rPr>
              <a:t>Нәтиже</a:t>
            </a:r>
          </a:p>
          <a:p>
            <a:r>
              <a:rPr sz="1200">
                <a:solidFill>
                  <a:srgbClr val="142A4A"/>
                </a:solidFill>
              </a:rPr>
              <a:t>Клиент IP address + mask + gateway + DNS параметрлерін алады.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Pool дегеніміз не?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383280" cy="1645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237EB0"/>
                </a:solidFill>
              </a:rPr>
              <a:t>Network</a:t>
            </a:r>
          </a:p>
          <a:p>
            <a:r>
              <a:rPr sz="1200">
                <a:solidFill>
                  <a:srgbClr val="142A4A"/>
                </a:solidFill>
              </a:rPr>
              <a:t>Клиенттерге адрес берілетін желі: 192.168.1.0/24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1645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7965A"/>
                </a:solidFill>
              </a:rPr>
              <a:t>Default Router</a:t>
            </a:r>
          </a:p>
          <a:p>
            <a:r>
              <a:rPr sz="1200">
                <a:solidFill>
                  <a:srgbClr val="142A4A"/>
                </a:solidFill>
              </a:rPr>
              <a:t>Клиенттердің gateway адресі: 192.168.1.1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80160"/>
            <a:ext cx="3383280" cy="1645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7350A5"/>
                </a:solidFill>
              </a:rPr>
              <a:t>DNS Server</a:t>
            </a:r>
          </a:p>
          <a:p>
            <a:r>
              <a:rPr sz="1200">
                <a:solidFill>
                  <a:srgbClr val="142A4A"/>
                </a:solidFill>
              </a:rPr>
              <a:t>Домен атауларын IP-ге түрлендіретін DNS адресі.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977639"/>
            <a:ext cx="9144000" cy="1143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600" b="1">
                <a:solidFill>
                  <a:srgbClr val="E1782D"/>
                </a:solidFill>
              </a:rPr>
              <a:t>Excluded Address</a:t>
            </a:r>
          </a:p>
          <a:p>
            <a:r>
              <a:rPr sz="1400">
                <a:solidFill>
                  <a:srgbClr val="142A4A"/>
                </a:solidFill>
              </a:rPr>
              <a:t>Router, server, printer сияқты статикалық құрылғыларға арналған адрестерді DHCP тарату диапазонынан алып тастау керек.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Cisco Router-ды DHCP Server ретінде баптау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ip dhcp excluded-address 192.168.1.1 192.168.1.20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143000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192.168.1.1–20 адрестерін DHCP автоматты таратудан алып тастайды.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ip dhcp pool 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103120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LAN атауымен DHCP pool құрады.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3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network 192.168.1.0 255.255.255.0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06323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Pool қолданатын IPv4 желі мен масканы анықтайды.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5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default-router 192.168.1.1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402335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DHCP клиенттеріне берілетін default gateway-ді көрсетеді.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7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dns-server 192.168.1.200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98347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Клиенттерге берілетін DNS server адресін көрсетеді.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Server: бір LAN ішіндегі мысал</a:t>
            </a:r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143000" cy="566928"/>
          </a:xfrm>
          <a:prstGeom prst="ellipse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559552" y="153619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5559552" y="153619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14416" y="1655064"/>
            <a:ext cx="53035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0" y="95097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91E23"/>
                </a:solidFill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993392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191E23"/>
                </a:solidFill>
              </a:rPr>
              <a:t>G0/0 192.168.1.1/24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560320"/>
            <a:ext cx="1554480" cy="621792"/>
          </a:xfrm>
          <a:prstGeom prst="rect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22783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91E23"/>
                </a:solidFill>
              </a:rPr>
              <a:t>SW1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852160" y="1938528"/>
            <a:ext cx="18288" cy="621792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78992" y="420624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pezoid 12"/>
          <p:cNvSpPr/>
          <p:nvPr/>
        </p:nvSpPr>
        <p:spPr>
          <a:xfrm>
            <a:off x="914400" y="484632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PC1
Static 192.168.1.101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0912" y="420624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pezoid 15"/>
          <p:cNvSpPr/>
          <p:nvPr/>
        </p:nvSpPr>
        <p:spPr>
          <a:xfrm>
            <a:off x="4846320" y="484632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1206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PC2
DHCP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4272" y="420624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pezoid 18"/>
          <p:cNvSpPr/>
          <p:nvPr/>
        </p:nvSpPr>
        <p:spPr>
          <a:xfrm>
            <a:off x="8869680" y="484632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51206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PC3
DHCP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03120" y="2880360"/>
            <a:ext cx="2971800" cy="1645920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486400" y="3182112"/>
            <a:ext cx="137160" cy="1024128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629400" y="2880360"/>
            <a:ext cx="2240280" cy="1645920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5486400"/>
            <a:ext cx="3383280" cy="64008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50" b="1">
                <a:solidFill>
                  <a:srgbClr val="E1782D"/>
                </a:solidFill>
              </a:rPr>
              <a:t>Excluded</a:t>
            </a:r>
          </a:p>
          <a:p>
            <a:r>
              <a:rPr sz="1050">
                <a:solidFill>
                  <a:srgbClr val="142A4A"/>
                </a:solidFill>
              </a:rPr>
              <a:t>192.168.1.1–100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5486400"/>
            <a:ext cx="3383280" cy="64008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50" b="1">
                <a:solidFill>
                  <a:srgbClr val="37965A"/>
                </a:solidFill>
              </a:rPr>
              <a:t>DHCP Clients</a:t>
            </a:r>
          </a:p>
          <a:p>
            <a:r>
              <a:rPr sz="1050">
                <a:solidFill>
                  <a:srgbClr val="142A4A"/>
                </a:solidFill>
              </a:rPr>
              <a:t>192.168.1.102 және әрі қарай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486400"/>
            <a:ext cx="3383280" cy="64008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50" b="1">
                <a:solidFill>
                  <a:srgbClr val="237EB0"/>
                </a:solidFill>
              </a:rPr>
              <a:t>Gateway</a:t>
            </a:r>
          </a:p>
          <a:p>
            <a:r>
              <a:rPr sz="1050">
                <a:solidFill>
                  <a:srgbClr val="142A4A"/>
                </a:solidFill>
              </a:rPr>
              <a:t>192.168.1.1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Lease ұғымы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DHCP берген IP адрес клиентке шексіз емес, белгілі lease уақытына беріледі.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Клиент lease мерзімі аяқталмай тұрып адресін жаңартуға әрекет етеді.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Клиент желіден кетсе немесе lease аяқталса, адрес кейін pool-ға қайта пайдалануға қайтарылуы мүмкін.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Lease механизмі шектеулі IPv4 адрестерді тиімді пайдалануға көмектеседі.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46304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237EB0"/>
                </a:solidFill>
              </a:rPr>
              <a:t>Lease Start</a:t>
            </a:r>
          </a:p>
          <a:p>
            <a:r>
              <a:rPr sz="1200">
                <a:solidFill>
                  <a:srgbClr val="142A4A"/>
                </a:solidFill>
              </a:rPr>
              <a:t>Адрес берілді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65176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7965A"/>
                </a:solidFill>
              </a:rPr>
              <a:t>Renewal</a:t>
            </a:r>
          </a:p>
          <a:p>
            <a:r>
              <a:rPr sz="1200">
                <a:solidFill>
                  <a:srgbClr val="142A4A"/>
                </a:solidFill>
              </a:rPr>
              <a:t>Клиент жаңартуды сұрайды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84048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E1782D"/>
                </a:solidFill>
              </a:rPr>
              <a:t>Expiration</a:t>
            </a:r>
          </a:p>
          <a:p>
            <a:r>
              <a:rPr sz="1200">
                <a:solidFill>
                  <a:srgbClr val="142A4A"/>
                </a:solidFill>
              </a:rPr>
              <a:t>Мерзім аяқталуы мүмкін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5029200"/>
            <a:ext cx="3657600" cy="6858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7350A5"/>
                </a:solidFill>
              </a:rPr>
              <a:t>Reuse</a:t>
            </a:r>
          </a:p>
          <a:p>
            <a:r>
              <a:rPr sz="1100">
                <a:solidFill>
                  <a:srgbClr val="142A4A"/>
                </a:solidFill>
              </a:rPr>
              <a:t>Адрес pool-ға қайтады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серверін тексеру командалары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show ip dhcp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143000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DHCP pool, address utilization және диапазон туралы ақпарат береді.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show ip dhcp binding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103120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DHCP арқылы берілген IP–client binding жазбаларын көрсетеді.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3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show ip dhcp conflict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06323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DHCP анықтаған IP address conflict жазбаларын көрсетеді.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5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show running-config | section dhcp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402335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DHCP-ке қатысты конфигурацияны көруге көмектеседі.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7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show ip interface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98347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Router интерфейстерінің IP және up/down күйін тексереді.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Клиент жағында DHCP-ті тексеру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02920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500" b="1">
                <a:solidFill>
                  <a:srgbClr val="237EB0"/>
                </a:solidFill>
              </a:rPr>
              <a:t>Packet Tracer PC</a:t>
            </a:r>
          </a:p>
          <a:p>
            <a:r>
              <a:rPr sz="1300">
                <a:solidFill>
                  <a:srgbClr val="142A4A"/>
                </a:solidFill>
              </a:rPr>
              <a:t>Desktop → IP Configuration → DHCP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02920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500" b="1">
                <a:solidFill>
                  <a:srgbClr val="37965A"/>
                </a:solidFill>
              </a:rPr>
              <a:t>Windows клиент</a:t>
            </a:r>
          </a:p>
          <a:p>
            <a:r>
              <a:rPr sz="1300">
                <a:solidFill>
                  <a:srgbClr val="142A4A"/>
                </a:solidFill>
              </a:rPr>
              <a:t>ipconfig /all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502920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500" b="1">
                <a:solidFill>
                  <a:srgbClr val="7350A5"/>
                </a:solidFill>
              </a:rPr>
              <a:t>Адрес жаңарту</a:t>
            </a:r>
          </a:p>
          <a:p>
            <a:r>
              <a:rPr sz="1300">
                <a:solidFill>
                  <a:srgbClr val="142A4A"/>
                </a:solidFill>
              </a:rPr>
              <a:t>ipconfig /renew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743200"/>
            <a:ext cx="502920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500" b="1">
                <a:solidFill>
                  <a:srgbClr val="E1782D"/>
                </a:solidFill>
              </a:rPr>
              <a:t>Адрес босату</a:t>
            </a:r>
          </a:p>
          <a:p>
            <a:r>
              <a:rPr sz="1300">
                <a:solidFill>
                  <a:srgbClr val="142A4A"/>
                </a:solidFill>
              </a:rPr>
              <a:t>ipconfig /release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4617720"/>
            <a:ext cx="896112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C34141"/>
                </a:solidFill>
              </a:rPr>
              <a:t>Тексеру</a:t>
            </a:r>
          </a:p>
          <a:p>
            <a:r>
              <a:rPr sz="1200">
                <a:solidFill>
                  <a:srgbClr val="142A4A"/>
                </a:solidFill>
              </a:rPr>
              <a:t>IP address, subnet mask, default gateway және DNS параметрлерінің DHCP pool саясатына сәйкес келгенін салыстырыңыз.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Server басқа желіде болса не болады?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1" y="292608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pezoid 3"/>
          <p:cNvSpPr/>
          <p:nvPr/>
        </p:nvSpPr>
        <p:spPr>
          <a:xfrm>
            <a:off x="640080" y="356616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384048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PC1
192.168.10.0/24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971800"/>
            <a:ext cx="1554480" cy="621792"/>
          </a:xfrm>
          <a:prstGeom prst="rect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6393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91E23"/>
                </a:solidFill>
              </a:rPr>
              <a:t>SW1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2971800"/>
            <a:ext cx="1143000" cy="566928"/>
          </a:xfrm>
          <a:prstGeom prst="ellipse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828032" y="313639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828032" y="313639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82896" y="3255264"/>
            <a:ext cx="53035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0" y="255117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91E23"/>
                </a:solidFill>
              </a:rPr>
              <a:t>R1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971800"/>
            <a:ext cx="1554480" cy="621792"/>
          </a:xfrm>
          <a:prstGeom prst="rect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6393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91E23"/>
                </a:solidFill>
              </a:rPr>
              <a:t>SW2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2651760"/>
            <a:ext cx="914400" cy="1234440"/>
          </a:xfrm>
          <a:prstGeom prst="rect">
            <a:avLst/>
          </a:prstGeom>
          <a:solidFill>
            <a:srgbClr val="D7E6F0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12680" y="2816352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12680" y="3118104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12680" y="3419856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3950208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91E23"/>
                </a:solidFill>
              </a:rPr>
              <a:t>DHCP Server
192.168.20.200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828800" y="3282696"/>
            <a:ext cx="548640" cy="54864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931920" y="3255264"/>
            <a:ext cx="640080" cy="27432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3255264"/>
            <a:ext cx="1234440" cy="27432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03920" y="3282696"/>
            <a:ext cx="1371600" cy="0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1143000"/>
            <a:ext cx="10698480" cy="8229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500" b="1">
                <a:solidFill>
                  <a:srgbClr val="C34141"/>
                </a:solidFill>
              </a:rPr>
              <a:t>Мәселе</a:t>
            </a:r>
          </a:p>
          <a:p>
            <a:r>
              <a:rPr sz="1300">
                <a:solidFill>
                  <a:srgbClr val="142A4A"/>
                </a:solidFill>
              </a:rPr>
              <a:t>DHCPDISCOVER бастапқыда broadcast. Router әдетте Layer 2 broadcast-ты басқа IP желіге тікелей өткізбейді.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029200"/>
            <a:ext cx="8503920" cy="7772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500" b="1">
                <a:solidFill>
                  <a:srgbClr val="37965A"/>
                </a:solidFill>
              </a:rPr>
              <a:t>Шешім</a:t>
            </a:r>
          </a:p>
          <a:p>
            <a:r>
              <a:rPr sz="1300">
                <a:solidFill>
                  <a:srgbClr val="142A4A"/>
                </a:solidFill>
              </a:rPr>
              <a:t>Клиент желісінің gateway интерфейсінде DHCP Relay конфигурацияланады.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Relay дегеніміз не?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DHCP Relay — DHCP клиенті мен басқа subnet-та орналасқан DHCP Server арасындағы сұраныстарды жеткізетін аралық механизм.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Relay клиент жағындағы broadcast DHCP хабарламасын қабылдап, серверге бағытталатын хабарлама ретінде жеткізуге көмектеседі.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Cisco IOS-та негізгі команда — ip helper-address &lt;DHCP-server-IP&gt;.</a:t>
            </a:r>
          </a:p>
          <a:p>
            <a:pPr>
              <a:spcAft>
                <a:spcPts val="800"/>
              </a:spcAft>
              <a:defRPr sz="1650">
                <a:solidFill>
                  <a:srgbClr val="142A4A"/>
                </a:solidFill>
              </a:defRPr>
            </a:pPr>
            <a:r>
              <a:t>Бұл команда DHCP клиенттері орналасқан subnet-тің router интерфейсіне қойылады.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46304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237EB0"/>
                </a:solidFill>
              </a:rPr>
              <a:t>Client LAN</a:t>
            </a:r>
          </a:p>
          <a:p>
            <a:r>
              <a:rPr sz="1200">
                <a:solidFill>
                  <a:srgbClr val="142A4A"/>
                </a:solidFill>
              </a:rPr>
              <a:t>192.168.10.0/24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65176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7350A5"/>
                </a:solidFill>
              </a:rPr>
              <a:t>Relay / Gateway</a:t>
            </a:r>
          </a:p>
          <a:p>
            <a:r>
              <a:rPr sz="1200">
                <a:solidFill>
                  <a:srgbClr val="142A4A"/>
                </a:solidFill>
              </a:rPr>
              <a:t>192.168.10.1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840480"/>
            <a:ext cx="3657600" cy="9144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7965A"/>
                </a:solidFill>
              </a:rPr>
              <a:t>DHCP Server</a:t>
            </a:r>
          </a:p>
          <a:p>
            <a:r>
              <a:rPr sz="1200">
                <a:solidFill>
                  <a:srgbClr val="142A4A"/>
                </a:solidFill>
              </a:rPr>
              <a:t>192.168.20.200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5029200"/>
            <a:ext cx="3657600" cy="6858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E1782D"/>
                </a:solidFill>
              </a:rPr>
              <a:t>Helper</a:t>
            </a:r>
          </a:p>
          <a:p>
            <a:r>
              <a:rPr sz="1100">
                <a:solidFill>
                  <a:srgbClr val="142A4A"/>
                </a:solidFill>
              </a:rPr>
              <a:t>192.168.20.200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Relay: Cisco топологиясы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310896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pezoid 3"/>
          <p:cNvSpPr/>
          <p:nvPr/>
        </p:nvSpPr>
        <p:spPr>
          <a:xfrm>
            <a:off x="548640" y="3749039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02336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PC1
DHCP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993392" y="4572000"/>
            <a:ext cx="868680" cy="640080"/>
          </a:xfrm>
          <a:prstGeom prst="rect">
            <a:avLst/>
          </a:prstGeom>
          <a:solidFill>
            <a:srgbClr val="DEEFF6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pezoid 6"/>
          <p:cNvSpPr/>
          <p:nvPr/>
        </p:nvSpPr>
        <p:spPr>
          <a:xfrm>
            <a:off x="1828800" y="5212080"/>
            <a:ext cx="1188720" cy="256032"/>
          </a:xfrm>
          <a:prstGeom prst="trapezoid">
            <a:avLst/>
          </a:prstGeom>
          <a:solidFill>
            <a:srgbClr val="A0D3E4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548640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30" b="1">
                <a:solidFill>
                  <a:srgbClr val="191E23"/>
                </a:solidFill>
              </a:rPr>
              <a:t>PC2
DHCP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200400"/>
            <a:ext cx="1554480" cy="621792"/>
          </a:xfrm>
          <a:prstGeom prst="rect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38679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91E23"/>
                </a:solidFill>
              </a:rPr>
              <a:t>SW1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00400"/>
            <a:ext cx="1143000" cy="566928"/>
          </a:xfrm>
          <a:prstGeom prst="ellipse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193792" y="336499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93792" y="3364992"/>
            <a:ext cx="612648" cy="23774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48656" y="3483864"/>
            <a:ext cx="53035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63440" y="277977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91E23"/>
                </a:solidFill>
              </a:rPr>
              <a:t>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822191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191E23"/>
                </a:solidFill>
              </a:rPr>
              <a:t>G0/0: 192.168.10.1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1554480" cy="621792"/>
          </a:xfrm>
          <a:prstGeom prst="rect">
            <a:avLst/>
          </a:prstGeom>
          <a:solidFill>
            <a:srgbClr val="4097BE"/>
          </a:solidFill>
          <a:ln>
            <a:solidFill>
              <a:srgbClr val="2D7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86791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91E23"/>
                </a:solidFill>
              </a:rPr>
              <a:t>SW2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2834640"/>
            <a:ext cx="914400" cy="1234440"/>
          </a:xfrm>
          <a:prstGeom prst="rect">
            <a:avLst/>
          </a:prstGeom>
          <a:solidFill>
            <a:srgbClr val="D7E6F0"/>
          </a:solidFill>
          <a:ln>
            <a:solidFill>
              <a:srgbClr val="40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95560" y="2999232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95560" y="3300984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95560" y="3602736"/>
            <a:ext cx="640080" cy="164592"/>
          </a:xfrm>
          <a:prstGeom prst="rect">
            <a:avLst/>
          </a:prstGeom>
          <a:solidFill>
            <a:srgbClr val="FFFFFF"/>
          </a:solidFill>
          <a:ln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4133087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91E23"/>
                </a:solidFill>
              </a:rPr>
              <a:t>DHCP Server
192.168.20.200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37360" y="3474720"/>
            <a:ext cx="822960" cy="36576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743200" y="3822191"/>
            <a:ext cx="457200" cy="749809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114800" y="3483864"/>
            <a:ext cx="822960" cy="27432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3483864"/>
            <a:ext cx="1234440" cy="27432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69680" y="3429000"/>
            <a:ext cx="1188720" cy="82296"/>
          </a:xfrm>
          <a:prstGeom prst="line">
            <a:avLst/>
          </a:prstGeom>
          <a:ln w="381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" y="1143000"/>
            <a:ext cx="3657600" cy="7315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237EB0"/>
                </a:solidFill>
              </a:rPr>
              <a:t>LAN 1</a:t>
            </a:r>
          </a:p>
          <a:p>
            <a:r>
              <a:rPr sz="1100">
                <a:solidFill>
                  <a:srgbClr val="142A4A"/>
                </a:solidFill>
              </a:rPr>
              <a:t>192.168.10.0/24 — DHCP клиенттер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1143000"/>
            <a:ext cx="3566160" cy="7315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37965A"/>
                </a:solidFill>
              </a:rPr>
              <a:t>LAN 2</a:t>
            </a:r>
          </a:p>
          <a:p>
            <a:r>
              <a:rPr sz="1100">
                <a:solidFill>
                  <a:srgbClr val="142A4A"/>
                </a:solidFill>
              </a:rPr>
              <a:t>192.168.20.0/24 — DHCP 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5166360"/>
            <a:ext cx="3931920" cy="7772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7350A5"/>
                </a:solidFill>
              </a:rPr>
              <a:t>R1 G0/0</a:t>
            </a:r>
          </a:p>
          <a:p>
            <a:r>
              <a:rPr sz="1100">
                <a:solidFill>
                  <a:srgbClr val="142A4A"/>
                </a:solidFill>
              </a:rPr>
              <a:t>ip helper-address 192.168.20.200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Relay конфигурациясы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interface g0/0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143000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DHCP клиенттері орналасқан LAN-ның gateway интерфейсіне өтеді.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ip address 192.168.10.1 255.255.255.0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103120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Клиенттік subnet үшін gateway адресін орнатады.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3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ip helper-address 192.168.20.200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06323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DHCP сұраныстарын 192.168.20.200 серверіне relay етеді.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5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no shutdown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402335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Router интерфейсін іске қосады.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79"/>
            <a:ext cx="4892040" cy="822960"/>
          </a:xfrm>
          <a:prstGeom prst="roundRect">
            <a:avLst/>
          </a:prstGeom>
          <a:solidFill>
            <a:srgbClr val="F9FAFB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191E23"/>
                </a:solidFill>
                <a:latin typeface="Courier New"/>
              </a:rPr>
              <a:t>show running-config interface g0/0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983479"/>
            <a:ext cx="589788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42A4A"/>
                </a:solidFill>
              </a:rPr>
              <a:t>Helper address конфигурациясының интерфейсте бар екенін тексереді.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Relay кезінде DORA қалай өтеді?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00" b="1">
                <a:solidFill>
                  <a:srgbClr val="237EB0"/>
                </a:solidFill>
              </a:rPr>
              <a:t>1</a:t>
            </a:r>
          </a:p>
          <a:p>
            <a:r>
              <a:rPr sz="1000">
                <a:solidFill>
                  <a:srgbClr val="142A4A"/>
                </a:solidFill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097280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237EB0"/>
                </a:solidFill>
              </a:rPr>
              <a:t>PC → DHCPDISCOVER broadcast → R1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01952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00" b="1">
                <a:solidFill>
                  <a:srgbClr val="7350A5"/>
                </a:solidFill>
              </a:rPr>
              <a:t>2</a:t>
            </a:r>
          </a:p>
          <a:p>
            <a:r>
              <a:rPr sz="1000">
                <a:solidFill>
                  <a:srgbClr val="142A4A"/>
                </a:solidFill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901952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7350A5"/>
                </a:solidFill>
              </a:rPr>
              <a:t>R1 Relay → сұранысты DHCP Server-ге жеткізеді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00" b="1">
                <a:solidFill>
                  <a:srgbClr val="37965A"/>
                </a:solidFill>
              </a:rPr>
              <a:t>3</a:t>
            </a:r>
          </a:p>
          <a:p>
            <a:r>
              <a:rPr sz="1000">
                <a:solidFill>
                  <a:srgbClr val="142A4A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706624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37965A"/>
                </a:solidFill>
              </a:rPr>
              <a:t>Server → DHCPOFFER → R1 → клиент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11296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00" b="1">
                <a:solidFill>
                  <a:srgbClr val="E1782D"/>
                </a:solidFill>
              </a:rPr>
              <a:t>4</a:t>
            </a:r>
          </a:p>
          <a:p>
            <a:r>
              <a:rPr sz="1000">
                <a:solidFill>
                  <a:srgbClr val="142A4A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511296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E1782D"/>
                </a:solidFill>
              </a:rPr>
              <a:t>Client → DHCPREQUEST → Relay → Server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15968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2A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00" b="1">
                <a:solidFill>
                  <a:srgbClr val="32A0B9"/>
                </a:solidFill>
              </a:rPr>
              <a:t>5</a:t>
            </a:r>
          </a:p>
          <a:p>
            <a:r>
              <a:rPr sz="1000">
                <a:solidFill>
                  <a:srgbClr val="142A4A"/>
                </a:solidFill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4315968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2A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32A0B9"/>
                </a:solidFill>
              </a:rPr>
              <a:t>Server → DHCPACK → Relay → Client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7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200" b="1">
                <a:solidFill>
                  <a:srgbClr val="D7A528"/>
                </a:solidFill>
              </a:rPr>
              <a:t>6</a:t>
            </a:r>
          </a:p>
          <a:p>
            <a:r>
              <a:rPr sz="1000">
                <a:solidFill>
                  <a:srgbClr val="142A4A"/>
                </a:solidFill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120640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7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D7A528"/>
                </a:solidFill>
              </a:rPr>
              <a:t>PC 192.168.10.0/24 желісінен IP параметрлерін алады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Үш тәсілді салыстыру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467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Static IP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DHCP Server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DHCP Relay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Негізгі қызмет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IP-ді қолмен бекіту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IP-ді автоматты тарату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Басқа subnet-тағы DHCP-ке жеткізу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Қайда бапталады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Клиентте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Server/Router-де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Клиент LAN gateway-де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Масштаб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Шағын/арнайы құрылғы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Көп 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Бір орталық DHCP, көп subnet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Артықшылық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Тұрақты адрес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Автоматтандыру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DHCP серверін орталықтандыру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Мысал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Server/Printer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PC/Laptop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142A4A"/>
                          </a:solidFill>
                        </a:defRPr>
                      </a:pPr>
                      <a:r>
                        <a:t>Филиал/VLAN желілері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DHCP жұмыс істемесе: тексеру алгоритмі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C34141"/>
                </a:solidFill>
              </a:rPr>
              <a:t>1</a:t>
            </a:r>
          </a:p>
          <a:p>
            <a:r>
              <a:rPr sz="1100">
                <a:solidFill>
                  <a:srgbClr val="142A4A"/>
                </a:solidFill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097280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3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C34141"/>
                </a:solidFill>
              </a:rPr>
              <a:t>Клиент DHCP режимінде ме?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01952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E1782D"/>
                </a:solidFill>
              </a:rPr>
              <a:t>2</a:t>
            </a:r>
          </a:p>
          <a:p>
            <a:r>
              <a:rPr sz="1100">
                <a:solidFill>
                  <a:srgbClr val="142A4A"/>
                </a:solidFill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901952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E1782D"/>
                </a:solidFill>
              </a:rPr>
              <a:t>Кабель және switch/router интерфейстері up па?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7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D7A528"/>
                </a:solidFill>
              </a:rPr>
              <a:t>3</a:t>
            </a:r>
          </a:p>
          <a:p>
            <a:r>
              <a:rPr sz="1100">
                <a:solidFill>
                  <a:srgbClr val="142A4A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706624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7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D7A528"/>
                </a:solidFill>
              </a:rPr>
              <a:t>DHCP pool network/mask дұрыс па?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11296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37965A"/>
                </a:solidFill>
              </a:rPr>
              <a:t>4</a:t>
            </a:r>
          </a:p>
          <a:p>
            <a:r>
              <a:rPr sz="1100">
                <a:solidFill>
                  <a:srgbClr val="142A4A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511296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37965A"/>
                </a:solidFill>
              </a:rPr>
              <a:t>Excluded-address қажетті диапазонды ғана қамти ма?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15968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237EB0"/>
                </a:solidFill>
              </a:rPr>
              <a:t>5</a:t>
            </a:r>
          </a:p>
          <a:p>
            <a:r>
              <a:rPr sz="1100">
                <a:solidFill>
                  <a:srgbClr val="142A4A"/>
                </a:solidFill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4315968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237EB0"/>
                </a:solidFill>
              </a:rPr>
              <a:t>Default-router және DNS параметрлері дұрыс па?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972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00" b="1">
                <a:solidFill>
                  <a:srgbClr val="7350A5"/>
                </a:solidFill>
              </a:rPr>
              <a:t>6</a:t>
            </a:r>
          </a:p>
          <a:p>
            <a:r>
              <a:rPr sz="1100">
                <a:solidFill>
                  <a:srgbClr val="142A4A"/>
                </a:solidFill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120640"/>
            <a:ext cx="9326880" cy="658368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380" b="1">
                <a:solidFill>
                  <a:srgbClr val="7350A5"/>
                </a:solidFill>
              </a:rPr>
              <a:t>Басқа subnet болса — ip helper-address дұрыс интерфейсте ме?</a:t>
            </a:r>
          </a:p>
          <a:p>
            <a:r>
              <a:rPr sz="1180">
                <a:solidFill>
                  <a:srgbClr val="142A4A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A4A"/>
                </a:solidFill>
                <a:latin typeface="Aptos Display"/>
              </a:rPr>
              <a:t>Қорытынды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38328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237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237EB0"/>
                </a:solidFill>
              </a:rPr>
              <a:t>DHCP</a:t>
            </a:r>
          </a:p>
          <a:p>
            <a:r>
              <a:rPr sz="1200">
                <a:solidFill>
                  <a:srgbClr val="142A4A"/>
                </a:solidFill>
              </a:rPr>
              <a:t>IP параметрлерін автоматты береді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38328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7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7965A"/>
                </a:solidFill>
              </a:rPr>
              <a:t>DORA</a:t>
            </a:r>
          </a:p>
          <a:p>
            <a:r>
              <a:rPr sz="1200">
                <a:solidFill>
                  <a:srgbClr val="142A4A"/>
                </a:solidFill>
              </a:rPr>
              <a:t>Discover → Offer → Request → 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34440"/>
            <a:ext cx="338328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E1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E1782D"/>
                </a:solidFill>
              </a:rPr>
              <a:t>Lease</a:t>
            </a:r>
          </a:p>
          <a:p>
            <a:r>
              <a:rPr sz="1200">
                <a:solidFill>
                  <a:srgbClr val="142A4A"/>
                </a:solidFill>
              </a:rPr>
              <a:t>IP адрес уақытша беріледі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971800"/>
            <a:ext cx="393192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735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7350A5"/>
                </a:solidFill>
              </a:rPr>
              <a:t>Static IP</a:t>
            </a:r>
          </a:p>
          <a:p>
            <a:r>
              <a:rPr sz="1200">
                <a:solidFill>
                  <a:srgbClr val="142A4A"/>
                </a:solidFill>
              </a:rPr>
              <a:t>Арнайы құрылғылар үшін тұрақты адрес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71800"/>
            <a:ext cx="3931920" cy="10515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2A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64008"/>
          <a:lstStyle/>
          <a:p>
            <a:pPr algn="ctr"/>
            <a:r>
              <a:rPr sz="1400" b="1">
                <a:solidFill>
                  <a:srgbClr val="32A0B9"/>
                </a:solidFill>
              </a:rPr>
              <a:t>DHCP Relay</a:t>
            </a:r>
          </a:p>
          <a:p>
            <a:r>
              <a:rPr sz="1200">
                <a:solidFill>
                  <a:srgbClr val="142A4A"/>
                </a:solidFill>
              </a:rPr>
              <a:t>Басқа subnet-тағы серверге сұранысты жеткізеді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09160"/>
            <a:ext cx="9509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42A4A"/>
                </a:solidFill>
              </a:defRPr>
            </a:pPr>
            <a:r>
              <a:t>Негізгі логика: Client → DORA → DHCP Pool → IP/Mask/Gateway/DNS.</a:t>
            </a:r>
          </a:p>
          <a:p>
            <a:pPr>
              <a:spcAft>
                <a:spcPts val="800"/>
              </a:spcAft>
              <a:defRPr sz="1450">
                <a:solidFill>
                  <a:srgbClr val="142A4A"/>
                </a:solidFill>
              </a:defRPr>
            </a:pPr>
            <a:r>
              <a:t>Бірнеше subnet болғанда: Client broadcast → Gateway/Relay → DHCP Server.</a:t>
            </a:r>
          </a:p>
          <a:p>
            <a:pPr>
              <a:spcAft>
                <a:spcPts val="800"/>
              </a:spcAft>
              <a:defRPr sz="1450">
                <a:solidFill>
                  <a:srgbClr val="142A4A"/>
                </a:solidFill>
              </a:defRPr>
            </a:pPr>
            <a:r>
              <a:t>Негізгі Cisco командалары: ip dhcp pool, excluded-address, default-router, dns-server, ip helper-address.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