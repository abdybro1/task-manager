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0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0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0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0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863850"/>
            <a:ext cx="4978400" cy="9588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778" y="694443"/>
            <a:ext cx="7435215" cy="655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0" i="0">
                <a:solidFill>
                  <a:srgbClr val="1A1A1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963" y="1672167"/>
            <a:ext cx="5288915" cy="3085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2162175"/>
            <a:ext cx="8794750" cy="549275"/>
          </a:xfrm>
          <a:custGeom>
            <a:avLst/>
            <a:gdLst/>
            <a:ahLst/>
            <a:cxnLst/>
            <a:rect l="l" t="t" r="r" b="b"/>
            <a:pathLst>
              <a:path w="8794750" h="549275">
                <a:moveTo>
                  <a:pt x="8794747" y="549274"/>
                </a:moveTo>
                <a:lnTo>
                  <a:pt x="0" y="549274"/>
                </a:lnTo>
                <a:lnTo>
                  <a:pt x="0" y="0"/>
                </a:lnTo>
                <a:lnTo>
                  <a:pt x="8794747" y="0"/>
                </a:lnTo>
                <a:lnTo>
                  <a:pt x="8794747" y="54927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9238" y="1948391"/>
            <a:ext cx="8865870" cy="781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950" spc="100" dirty="0">
                <a:solidFill>
                  <a:srgbClr val="F0F0F0"/>
                </a:solidFill>
                <a:latin typeface="Arial"/>
                <a:cs typeface="Arial"/>
              </a:rPr>
              <a:t>Mypex-</a:t>
            </a:r>
            <a:r>
              <a:rPr sz="4950" spc="114" dirty="0">
                <a:solidFill>
                  <a:srgbClr val="F0F0F0"/>
                </a:solidFill>
                <a:latin typeface="Arial"/>
                <a:cs typeface="Arial"/>
              </a:rPr>
              <a:t>gãH</a:t>
            </a:r>
            <a:r>
              <a:rPr sz="4950" spc="60" dirty="0">
                <a:solidFill>
                  <a:srgbClr val="F0F0F0"/>
                </a:solidFill>
                <a:latin typeface="Arial"/>
                <a:cs typeface="Arial"/>
              </a:rPr>
              <a:t> </a:t>
            </a:r>
            <a:r>
              <a:rPr sz="4950" spc="-254" dirty="0">
                <a:solidFill>
                  <a:srgbClr val="F0F0F0"/>
                </a:solidFill>
                <a:latin typeface="Arial"/>
                <a:cs typeface="Arial"/>
              </a:rPr>
              <a:t>TãMuip</a:t>
            </a:r>
            <a:r>
              <a:rPr sz="4950" spc="40" dirty="0">
                <a:solidFill>
                  <a:srgbClr val="F0F0F0"/>
                </a:solidFill>
                <a:latin typeface="Arial"/>
                <a:cs typeface="Arial"/>
              </a:rPr>
              <a:t> </a:t>
            </a:r>
            <a:r>
              <a:rPr sz="4950" spc="-60" dirty="0">
                <a:solidFill>
                  <a:srgbClr val="F0F0F0"/>
                </a:solidFill>
                <a:latin typeface="Arial"/>
                <a:cs typeface="Arial"/>
              </a:rPr>
              <a:t>aypynapblH</a:t>
            </a:r>
            <a:endParaRPr sz="49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2325" y="2905125"/>
            <a:ext cx="6931025" cy="447675"/>
          </a:xfrm>
          <a:custGeom>
            <a:avLst/>
            <a:gdLst/>
            <a:ahLst/>
            <a:cxnLst/>
            <a:rect l="l" t="t" r="r" b="b"/>
            <a:pathLst>
              <a:path w="6931025" h="447675">
                <a:moveTo>
                  <a:pt x="6931023" y="447674"/>
                </a:moveTo>
                <a:lnTo>
                  <a:pt x="0" y="447674"/>
                </a:lnTo>
                <a:lnTo>
                  <a:pt x="0" y="0"/>
                </a:lnTo>
                <a:lnTo>
                  <a:pt x="6931023" y="0"/>
                </a:lnTo>
                <a:lnTo>
                  <a:pt x="6931023" y="44767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12800" y="2528005"/>
            <a:ext cx="6961505" cy="8553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450" spc="-170" dirty="0">
                <a:solidFill>
                  <a:srgbClr val="F0F0F0"/>
                </a:solidFill>
                <a:latin typeface="Arial"/>
                <a:cs typeface="Arial"/>
              </a:rPr>
              <a:t>диагностикапау</a:t>
            </a:r>
            <a:r>
              <a:rPr sz="5450" spc="-415" dirty="0">
                <a:solidFill>
                  <a:srgbClr val="F0F0F0"/>
                </a:solidFill>
                <a:latin typeface="Arial"/>
                <a:cs typeface="Arial"/>
              </a:rPr>
              <a:t> </a:t>
            </a:r>
            <a:r>
              <a:rPr sz="5450" spc="-10" dirty="0">
                <a:solidFill>
                  <a:srgbClr val="F0F0F0"/>
                </a:solidFill>
                <a:latin typeface="Arial"/>
                <a:cs typeface="Arial"/>
              </a:rPr>
              <a:t>uoдyni</a:t>
            </a:r>
            <a:endParaRPr sz="54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658100" y="2774950"/>
            <a:ext cx="107950" cy="101600"/>
            <a:chOff x="7658100" y="2774950"/>
            <a:chExt cx="107950" cy="1016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58100" y="2774950"/>
              <a:ext cx="107950" cy="1016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58100" y="2774950"/>
              <a:ext cx="107950" cy="1016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812800" y="4279900"/>
            <a:ext cx="1565275" cy="225425"/>
          </a:xfrm>
          <a:custGeom>
            <a:avLst/>
            <a:gdLst/>
            <a:ahLst/>
            <a:cxnLst/>
            <a:rect l="l" t="t" r="r" b="b"/>
            <a:pathLst>
              <a:path w="1565275" h="225425">
                <a:moveTo>
                  <a:pt x="1565274" y="225424"/>
                </a:moveTo>
                <a:lnTo>
                  <a:pt x="0" y="225424"/>
                </a:lnTo>
                <a:lnTo>
                  <a:pt x="0" y="0"/>
                </a:lnTo>
                <a:lnTo>
                  <a:pt x="1565274" y="0"/>
                </a:lnTo>
                <a:lnTo>
                  <a:pt x="1565274" y="22542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6821" y="4185532"/>
            <a:ext cx="157035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solidFill>
                  <a:srgbClr val="F0F0F0"/>
                </a:solidFill>
                <a:latin typeface="Arial"/>
                <a:cs typeface="Arial"/>
              </a:rPr>
              <a:t>Tani</a:t>
            </a:r>
            <a:r>
              <a:rPr sz="2000" spc="-110" dirty="0">
                <a:solidFill>
                  <a:srgbClr val="F0F0F0"/>
                </a:solidFill>
                <a:latin typeface="Arial"/>
                <a:cs typeface="Arial"/>
              </a:rPr>
              <a:t> </a:t>
            </a:r>
            <a:r>
              <a:rPr sz="2000" spc="-65" dirty="0" err="1">
                <a:solidFill>
                  <a:srgbClr val="F0F0F0"/>
                </a:solidFill>
                <a:latin typeface="Arial"/>
                <a:cs typeface="Arial"/>
              </a:rPr>
              <a:t>Sa</a:t>
            </a:r>
            <a:r>
              <a:rPr lang="en-US" sz="2000" spc="-65" dirty="0" err="1">
                <a:solidFill>
                  <a:srgbClr val="F0F0F0"/>
                </a:solidFill>
                <a:latin typeface="Arial"/>
                <a:cs typeface="Arial"/>
              </a:rPr>
              <a:t>gzhan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87750" y="4273550"/>
            <a:ext cx="2339975" cy="231775"/>
          </a:xfrm>
          <a:prstGeom prst="rect">
            <a:avLst/>
          </a:prstGeom>
          <a:solidFill>
            <a:srgbClr val="1A1A1A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sz="2000" spc="50" dirty="0">
                <a:solidFill>
                  <a:srgbClr val="F0F0F0"/>
                </a:solidFill>
                <a:latin typeface="Calibri"/>
                <a:cs typeface="Calibri"/>
              </a:rPr>
              <a:t>Beketayev</a:t>
            </a:r>
            <a:r>
              <a:rPr sz="2000" spc="155" dirty="0">
                <a:solidFill>
                  <a:srgbClr val="F0F0F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0F0F0"/>
                </a:solidFill>
                <a:latin typeface="Calibri"/>
                <a:cs typeface="Calibri"/>
              </a:rPr>
              <a:t>Abdukadir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9150" y="4673600"/>
            <a:ext cx="2339975" cy="180975"/>
          </a:xfrm>
          <a:custGeom>
            <a:avLst/>
            <a:gdLst/>
            <a:ahLst/>
            <a:cxnLst/>
            <a:rect l="l" t="t" r="r" b="b"/>
            <a:pathLst>
              <a:path w="2339975" h="180975">
                <a:moveTo>
                  <a:pt x="2339974" y="180974"/>
                </a:moveTo>
                <a:lnTo>
                  <a:pt x="0" y="180974"/>
                </a:lnTo>
                <a:lnTo>
                  <a:pt x="0" y="0"/>
                </a:lnTo>
                <a:lnTo>
                  <a:pt x="2339974" y="0"/>
                </a:lnTo>
                <a:lnTo>
                  <a:pt x="2339974" y="18097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5760" y="4600927"/>
            <a:ext cx="235458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F0F0F0"/>
                </a:solidFill>
                <a:latin typeface="Arial"/>
                <a:cs typeface="Arial"/>
              </a:rPr>
              <a:t>Yessenzhan</a:t>
            </a:r>
            <a:r>
              <a:rPr sz="1850" spc="285" dirty="0">
                <a:solidFill>
                  <a:srgbClr val="F0F0F0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F0F0F0"/>
                </a:solidFill>
                <a:latin typeface="Arial"/>
                <a:cs typeface="Arial"/>
              </a:rPr>
              <a:t>Tamirlan</a:t>
            </a:r>
            <a:endParaRPr sz="18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75050" y="4673600"/>
            <a:ext cx="2111375" cy="231775"/>
          </a:xfrm>
          <a:custGeom>
            <a:avLst/>
            <a:gdLst/>
            <a:ahLst/>
            <a:cxnLst/>
            <a:rect l="l" t="t" r="r" b="b"/>
            <a:pathLst>
              <a:path w="2111375" h="231775">
                <a:moveTo>
                  <a:pt x="2111374" y="231774"/>
                </a:moveTo>
                <a:lnTo>
                  <a:pt x="0" y="231774"/>
                </a:lnTo>
                <a:lnTo>
                  <a:pt x="0" y="0"/>
                </a:lnTo>
                <a:lnTo>
                  <a:pt x="2111374" y="0"/>
                </a:lnTo>
                <a:lnTo>
                  <a:pt x="2111374" y="23177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569063" y="4588580"/>
            <a:ext cx="2126615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dirty="0">
                <a:solidFill>
                  <a:srgbClr val="F0F0F0"/>
                </a:solidFill>
                <a:latin typeface="Arial"/>
                <a:cs typeface="Arial"/>
              </a:rPr>
              <a:t>Aidarkyzy</a:t>
            </a:r>
            <a:r>
              <a:rPr sz="1950" spc="240" dirty="0">
                <a:solidFill>
                  <a:srgbClr val="F0F0F0"/>
                </a:solidFill>
                <a:latin typeface="Arial"/>
                <a:cs typeface="Arial"/>
              </a:rPr>
              <a:t> </a:t>
            </a:r>
            <a:r>
              <a:rPr sz="1950" spc="-10" dirty="0">
                <a:solidFill>
                  <a:srgbClr val="F0F0F0"/>
                </a:solidFill>
                <a:latin typeface="Arial"/>
                <a:cs typeface="Arial"/>
              </a:rPr>
              <a:t>Aruzhan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30"/>
              </a:spcBef>
            </a:pPr>
            <a:r>
              <a:rPr dirty="0"/>
              <a:t>Модульдіц</a:t>
            </a:r>
            <a:r>
              <a:rPr spc="210" dirty="0"/>
              <a:t> </a:t>
            </a:r>
            <a:r>
              <a:rPr spc="-10" dirty="0"/>
              <a:t>міндеті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4200" y="1663700"/>
            <a:ext cx="3403600" cy="23114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74183" y="1679575"/>
            <a:ext cx="3283585" cy="0"/>
          </a:xfrm>
          <a:custGeom>
            <a:avLst/>
            <a:gdLst/>
            <a:ahLst/>
            <a:cxnLst/>
            <a:rect l="l" t="t" r="r" b="b"/>
            <a:pathLst>
              <a:path w="3283585">
                <a:moveTo>
                  <a:pt x="0" y="0"/>
                </a:moveTo>
                <a:lnTo>
                  <a:pt x="3283372" y="0"/>
                </a:lnTo>
              </a:path>
            </a:pathLst>
          </a:custGeom>
          <a:ln w="88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54340" y="1685502"/>
            <a:ext cx="3298190" cy="0"/>
          </a:xfrm>
          <a:custGeom>
            <a:avLst/>
            <a:gdLst/>
            <a:ahLst/>
            <a:cxnLst/>
            <a:rect l="l" t="t" r="r" b="b"/>
            <a:pathLst>
              <a:path w="3298190">
                <a:moveTo>
                  <a:pt x="0" y="0"/>
                </a:moveTo>
                <a:lnTo>
                  <a:pt x="3298189" y="0"/>
                </a:lnTo>
              </a:path>
            </a:pathLst>
          </a:custGeom>
          <a:ln w="88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025" y="1981200"/>
            <a:ext cx="606425" cy="2444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59722" y="2305226"/>
            <a:ext cx="2811145" cy="139255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03899"/>
              </a:lnSpc>
              <a:spcBef>
                <a:spcPts val="15"/>
              </a:spcBef>
            </a:pPr>
            <a:r>
              <a:rPr sz="1800" dirty="0">
                <a:solidFill>
                  <a:srgbClr val="444444"/>
                </a:solidFill>
                <a:latin typeface="Calibri"/>
                <a:cs typeface="Calibri"/>
              </a:rPr>
              <a:t>Науцастыц</a:t>
            </a:r>
            <a:r>
              <a:rPr sz="1800" spc="21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4444"/>
                </a:solidFill>
                <a:latin typeface="Calibri"/>
                <a:cs typeface="Calibri"/>
              </a:rPr>
              <a:t>алты</a:t>
            </a:r>
            <a:r>
              <a:rPr sz="1800" spc="12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Calibri"/>
                <a:cs typeface="Calibri"/>
              </a:rPr>
              <a:t>кврсеткіші: </a:t>
            </a:r>
            <a:r>
              <a:rPr sz="1800" dirty="0">
                <a:solidFill>
                  <a:srgbClr val="444444"/>
                </a:solidFill>
                <a:latin typeface="Calibri"/>
                <a:cs typeface="Calibri"/>
              </a:rPr>
              <a:t>жасы,</a:t>
            </a:r>
            <a:r>
              <a:rPr sz="1800" spc="13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4444"/>
                </a:solidFill>
                <a:latin typeface="Calibri"/>
                <a:cs typeface="Calibri"/>
              </a:rPr>
              <a:t>систолалыц</a:t>
            </a:r>
            <a:r>
              <a:rPr sz="1800" spc="24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44444"/>
                </a:solidFill>
                <a:latin typeface="Calibri"/>
                <a:cs typeface="Calibri"/>
              </a:rPr>
              <a:t>цан </a:t>
            </a:r>
            <a:r>
              <a:rPr sz="1750" dirty="0">
                <a:solidFill>
                  <a:srgbClr val="444444"/>
                </a:solidFill>
                <a:latin typeface="Calibri"/>
                <a:cs typeface="Calibri"/>
              </a:rPr>
              <a:t>цысымы,</a:t>
            </a:r>
            <a:r>
              <a:rPr sz="1750" spc="29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444444"/>
                </a:solidFill>
                <a:latin typeface="Calibri"/>
                <a:cs typeface="Calibri"/>
              </a:rPr>
              <a:t>холестерин, </a:t>
            </a:r>
            <a:r>
              <a:rPr sz="1650" spc="70" dirty="0">
                <a:solidFill>
                  <a:srgbClr val="444444"/>
                </a:solidFill>
                <a:latin typeface="Calibri"/>
                <a:cs typeface="Calibri"/>
              </a:rPr>
              <a:t>глюкоза,</a:t>
            </a:r>
            <a:r>
              <a:rPr sz="1650" spc="22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650" spc="70" dirty="0">
                <a:solidFill>
                  <a:srgbClr val="444444"/>
                </a:solidFill>
                <a:latin typeface="Calibri"/>
                <a:cs typeface="Calibri"/>
              </a:rPr>
              <a:t>темекі</a:t>
            </a:r>
            <a:r>
              <a:rPr sz="1650" spc="15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650" spc="90" dirty="0">
                <a:solidFill>
                  <a:srgbClr val="444444"/>
                </a:solidFill>
                <a:latin typeface="Calibri"/>
                <a:cs typeface="Calibri"/>
              </a:rPr>
              <a:t>шегу,</a:t>
            </a:r>
            <a:r>
              <a:rPr sz="1650" spc="16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650" spc="-20" dirty="0">
                <a:solidFill>
                  <a:srgbClr val="444444"/>
                </a:solidFill>
                <a:latin typeface="Calibri"/>
                <a:cs typeface="Calibri"/>
              </a:rPr>
              <a:t>дене </a:t>
            </a:r>
            <a:r>
              <a:rPr sz="1700" spc="50" dirty="0">
                <a:solidFill>
                  <a:srgbClr val="444444"/>
                </a:solidFill>
                <a:latin typeface="Calibri"/>
                <a:cs typeface="Calibri"/>
              </a:rPr>
              <a:t>салмаFы</a:t>
            </a:r>
            <a:r>
              <a:rPr sz="1700" spc="17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44444"/>
                </a:solidFill>
                <a:latin typeface="Calibri"/>
                <a:cs typeface="Calibri"/>
              </a:rPr>
              <a:t>индексі.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41002" y="1785026"/>
            <a:ext cx="2613660" cy="1639570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2100" spc="60" dirty="0">
                <a:solidFill>
                  <a:srgbClr val="1A1A1A"/>
                </a:solidFill>
                <a:latin typeface="Arial"/>
                <a:cs typeface="Arial"/>
              </a:rPr>
              <a:t>Вцдеу</a:t>
            </a:r>
            <a:endParaRPr sz="2100">
              <a:latin typeface="Arial"/>
              <a:cs typeface="Arial"/>
            </a:endParaRPr>
          </a:p>
          <a:p>
            <a:pPr marL="22225" marR="5080" indent="9525">
              <a:lnSpc>
                <a:spcPct val="102400"/>
              </a:lnSpc>
              <a:spcBef>
                <a:spcPts val="650"/>
              </a:spcBef>
            </a:pPr>
            <a:r>
              <a:rPr sz="1800" dirty="0">
                <a:solidFill>
                  <a:srgbClr val="444444"/>
                </a:solidFill>
                <a:latin typeface="Calibri"/>
                <a:cs typeface="Calibri"/>
              </a:rPr>
              <a:t>Логистикалыц</a:t>
            </a:r>
            <a:r>
              <a:rPr sz="1800" spc="204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Calibri"/>
                <a:cs typeface="Calibri"/>
              </a:rPr>
              <a:t>модель </a:t>
            </a:r>
            <a:r>
              <a:rPr sz="1750" dirty="0">
                <a:solidFill>
                  <a:srgbClr val="444444"/>
                </a:solidFill>
                <a:latin typeface="Calibri"/>
                <a:cs typeface="Calibri"/>
              </a:rPr>
              <a:t>ыцтималдыцты</a:t>
            </a:r>
            <a:r>
              <a:rPr sz="1750" spc="32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444444"/>
                </a:solidFill>
                <a:latin typeface="Calibri"/>
                <a:cs typeface="Calibri"/>
              </a:rPr>
              <a:t>есептеиді, </a:t>
            </a:r>
            <a:r>
              <a:rPr sz="1800" dirty="0">
                <a:solidFill>
                  <a:srgbClr val="444444"/>
                </a:solidFill>
                <a:latin typeface="Calibri"/>
                <a:cs typeface="Calibri"/>
              </a:rPr>
              <a:t>ал</a:t>
            </a:r>
            <a:r>
              <a:rPr sz="1800" spc="2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444444"/>
                </a:solidFill>
                <a:latin typeface="Calibri"/>
                <a:cs typeface="Calibri"/>
              </a:rPr>
              <a:t>клиникалыц</a:t>
            </a:r>
            <a:r>
              <a:rPr sz="1800" spc="10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Calibri"/>
                <a:cs typeface="Calibri"/>
              </a:rPr>
              <a:t>ережелер </a:t>
            </a:r>
            <a:r>
              <a:rPr sz="1700" spc="50" dirty="0">
                <a:solidFill>
                  <a:srgbClr val="444444"/>
                </a:solidFill>
                <a:latin typeface="Calibri"/>
                <a:cs typeface="Calibri"/>
              </a:rPr>
              <a:t>сыни</a:t>
            </a:r>
            <a:r>
              <a:rPr sz="1700" spc="34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44444"/>
                </a:solidFill>
                <a:latin typeface="Calibri"/>
                <a:cs typeface="Calibri"/>
              </a:rPr>
              <a:t>белгілерді</a:t>
            </a:r>
            <a:r>
              <a:rPr sz="1700" spc="34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44444"/>
                </a:solidFill>
                <a:latin typeface="Calibri"/>
                <a:cs typeface="Calibri"/>
              </a:rPr>
              <a:t>цосады.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35928" y="1770920"/>
            <a:ext cx="2859405" cy="1650364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150" spc="-10" dirty="0">
                <a:solidFill>
                  <a:srgbClr val="1A1A1A"/>
                </a:solidFill>
                <a:latin typeface="Arial"/>
                <a:cs typeface="Arial"/>
              </a:rPr>
              <a:t>Натиже</a:t>
            </a:r>
            <a:endParaRPr sz="2150">
              <a:latin typeface="Arial"/>
              <a:cs typeface="Arial"/>
            </a:endParaRPr>
          </a:p>
          <a:p>
            <a:pPr marL="14604" marR="5080" indent="635">
              <a:lnSpc>
                <a:spcPct val="102699"/>
              </a:lnSpc>
              <a:spcBef>
                <a:spcPts val="660"/>
              </a:spcBef>
            </a:pPr>
            <a:r>
              <a:rPr sz="1800" dirty="0">
                <a:solidFill>
                  <a:srgbClr val="444444"/>
                </a:solidFill>
                <a:latin typeface="Calibri"/>
                <a:cs typeface="Calibri"/>
              </a:rPr>
              <a:t>Цауіп</a:t>
            </a:r>
            <a:r>
              <a:rPr sz="1800" spc="2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444444"/>
                </a:solidFill>
                <a:latin typeface="Calibri"/>
                <a:cs typeface="Calibri"/>
              </a:rPr>
              <a:t>ыцтималдыгы,</a:t>
            </a:r>
            <a:r>
              <a:rPr sz="1800" spc="21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Calibri"/>
                <a:cs typeface="Calibri"/>
              </a:rPr>
              <a:t>децгейі </a:t>
            </a:r>
            <a:r>
              <a:rPr sz="1800" dirty="0">
                <a:solidFill>
                  <a:srgbClr val="444444"/>
                </a:solidFill>
                <a:latin typeface="Calibri"/>
                <a:cs typeface="Calibri"/>
              </a:rPr>
              <a:t>(твмен,</a:t>
            </a:r>
            <a:r>
              <a:rPr sz="1800" spc="14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4444"/>
                </a:solidFill>
                <a:latin typeface="Calibri"/>
                <a:cs typeface="Calibri"/>
              </a:rPr>
              <a:t>орташа,</a:t>
            </a:r>
            <a:r>
              <a:rPr sz="1800" spc="14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Calibri"/>
                <a:cs typeface="Calibri"/>
              </a:rPr>
              <a:t>жогары), </a:t>
            </a:r>
            <a:r>
              <a:rPr sz="1850" spc="-25" dirty="0">
                <a:solidFill>
                  <a:srgbClr val="444444"/>
                </a:solidFill>
                <a:latin typeface="Calibri"/>
                <a:cs typeface="Calibri"/>
              </a:rPr>
              <a:t>аныцталган</a:t>
            </a:r>
            <a:r>
              <a:rPr sz="1850" spc="1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850" spc="-10" dirty="0">
                <a:solidFill>
                  <a:srgbClr val="444444"/>
                </a:solidFill>
                <a:latin typeface="Calibri"/>
                <a:cs typeface="Calibri"/>
              </a:rPr>
              <a:t>факторлар</a:t>
            </a:r>
            <a:r>
              <a:rPr sz="1850" spc="1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850" spc="-20" dirty="0">
                <a:solidFill>
                  <a:srgbClr val="444444"/>
                </a:solidFill>
                <a:latin typeface="Calibri"/>
                <a:cs typeface="Calibri"/>
              </a:rPr>
              <a:t>жане </a:t>
            </a:r>
            <a:r>
              <a:rPr sz="1550" spc="95" dirty="0">
                <a:solidFill>
                  <a:srgbClr val="444444"/>
                </a:solidFill>
                <a:latin typeface="Calibri"/>
                <a:cs typeface="Calibri"/>
              </a:rPr>
              <a:t>усЫнЫс.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06780" y="3952452"/>
            <a:ext cx="3253740" cy="0"/>
          </a:xfrm>
          <a:custGeom>
            <a:avLst/>
            <a:gdLst/>
            <a:ahLst/>
            <a:cxnLst/>
            <a:rect l="l" t="t" r="r" b="b"/>
            <a:pathLst>
              <a:path w="3253740">
                <a:moveTo>
                  <a:pt x="0" y="0"/>
                </a:moveTo>
                <a:lnTo>
                  <a:pt x="3253739" y="0"/>
                </a:lnTo>
              </a:path>
            </a:pathLst>
          </a:custGeom>
          <a:ln w="88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83973" y="3952452"/>
            <a:ext cx="3253740" cy="0"/>
          </a:xfrm>
          <a:custGeom>
            <a:avLst/>
            <a:gdLst/>
            <a:ahLst/>
            <a:cxnLst/>
            <a:rect l="l" t="t" r="r" b="b"/>
            <a:pathLst>
              <a:path w="3253740">
                <a:moveTo>
                  <a:pt x="0" y="0"/>
                </a:moveTo>
                <a:lnTo>
                  <a:pt x="3253739" y="0"/>
                </a:lnTo>
              </a:path>
            </a:pathLst>
          </a:custGeom>
          <a:ln w="88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03863" y="6221236"/>
            <a:ext cx="749300" cy="218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29870" algn="l"/>
              </a:tabLst>
            </a:pPr>
            <a:r>
              <a:rPr sz="1250" dirty="0">
                <a:solidFill>
                  <a:srgbClr val="696969"/>
                </a:solidFill>
                <a:latin typeface="Calibri"/>
                <a:cs typeface="Calibri"/>
              </a:rPr>
              <a:t>2	</a:t>
            </a:r>
            <a:r>
              <a:rPr sz="1250" spc="-10" dirty="0">
                <a:solidFill>
                  <a:srgbClr val="696969"/>
                </a:solidFill>
                <a:latin typeface="Calibri"/>
                <a:cs typeface="Calibri"/>
              </a:rPr>
              <a:t>Міндет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35"/>
              </a:spcBef>
            </a:pPr>
            <a:r>
              <a:rPr sz="3850" dirty="0">
                <a:latin typeface="Arial"/>
                <a:cs typeface="Arial"/>
              </a:rPr>
              <a:t>Енгізілетін</a:t>
            </a:r>
            <a:r>
              <a:rPr sz="3850" spc="450" dirty="0">
                <a:latin typeface="Arial"/>
                <a:cs typeface="Arial"/>
              </a:rPr>
              <a:t> </a:t>
            </a:r>
            <a:r>
              <a:rPr sz="3850" spc="-10" dirty="0">
                <a:latin typeface="Arial"/>
                <a:cs typeface="Arial"/>
              </a:rPr>
              <a:t>деректер</a:t>
            </a:r>
            <a:endParaRPr sz="3850">
              <a:latin typeface="Arial"/>
              <a:cs typeface="Arial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03063" y="1672167"/>
          <a:ext cx="10649585" cy="2898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7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9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650" spc="7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Керсеткіш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628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654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2400" baseline="-6944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sz="160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цса</a:t>
                      </a:r>
                      <a:r>
                        <a:rPr sz="2400" baseline="3472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т</a:t>
                      </a:r>
                      <a:r>
                        <a:rPr sz="2400" spc="-52" baseline="3472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етілген</a:t>
                      </a:r>
                      <a:r>
                        <a:rPr sz="1600" spc="2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ауцым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70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адепкі</a:t>
                      </a:r>
                      <a:r>
                        <a:rPr sz="1700" spc="-3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700" spc="-2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ман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600" spc="6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Жасы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600" spc="-13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1—</a:t>
                      </a:r>
                      <a:r>
                        <a:rPr sz="1600" spc="-2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120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550" spc="-2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56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655"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5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Систолалыц</a:t>
                      </a:r>
                      <a:r>
                        <a:rPr sz="1650" spc="28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АЦ,</a:t>
                      </a:r>
                      <a:r>
                        <a:rPr sz="1650" spc="22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5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мм</a:t>
                      </a:r>
                      <a:r>
                        <a:rPr sz="1650" spc="2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рт.ст.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5" dirty="0">
                          <a:solidFill>
                            <a:srgbClr val="1A1A1A"/>
                          </a:solidFill>
                          <a:latin typeface="Courier New"/>
                          <a:cs typeface="Courier New"/>
                        </a:rPr>
                        <a:t>50-</a:t>
                      </a:r>
                      <a:r>
                        <a:rPr sz="1800" spc="-25" dirty="0">
                          <a:solidFill>
                            <a:srgbClr val="1A1A1A"/>
                          </a:solidFill>
                          <a:latin typeface="Courier New"/>
                          <a:cs typeface="Courier New"/>
                        </a:rPr>
                        <a:t>250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550" spc="-2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145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654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655"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75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Холестерин,</a:t>
                      </a:r>
                      <a:r>
                        <a:rPr sz="1750" spc="4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75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ммоль/л</a:t>
                      </a:r>
                      <a:endParaRPr sz="175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550" spc="-2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1.0</a:t>
                      </a:r>
                      <a:r>
                        <a:rPr sz="1550" spc="-7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50" spc="-81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550" spc="5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50" spc="-2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20.0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635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550" spc="-2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6.8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5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Глюкоза,</a:t>
                      </a:r>
                      <a:r>
                        <a:rPr sz="1750" spc="8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75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ммоль/л</a:t>
                      </a:r>
                      <a:endParaRPr sz="175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550" spc="-2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1.0</a:t>
                      </a:r>
                      <a:r>
                        <a:rPr sz="1550" spc="-7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50" spc="-81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550" spc="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50" spc="-2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30.0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50" spc="-2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5.s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5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Темекі</a:t>
                      </a:r>
                      <a:r>
                        <a:rPr sz="1650" spc="17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2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шегу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1600" spc="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8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sz="1600" spc="7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жоц,</a:t>
                      </a:r>
                      <a:r>
                        <a:rPr sz="1600" spc="12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1—</a:t>
                      </a:r>
                      <a:r>
                        <a:rPr sz="1600" spc="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иа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90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50" spc="-2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иа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65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Дене</a:t>
                      </a:r>
                      <a:r>
                        <a:rPr sz="1650" spc="14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5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салмагы</a:t>
                      </a:r>
                      <a:r>
                        <a:rPr sz="1650" spc="15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5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индексі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55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10.0</a:t>
                      </a:r>
                      <a:r>
                        <a:rPr sz="1550" spc="-10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50" spc="-81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550" spc="3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50" spc="-2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60.0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550" spc="-2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29.4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03142" y="6227409"/>
            <a:ext cx="5524500" cy="2108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41300" algn="l"/>
                <a:tab pos="1092835" algn="l"/>
              </a:tabLst>
            </a:pPr>
            <a:r>
              <a:rPr sz="1200" spc="-50" dirty="0">
                <a:solidFill>
                  <a:srgbClr val="696969"/>
                </a:solidFill>
                <a:latin typeface="Arial"/>
                <a:cs typeface="Arial"/>
              </a:rPr>
              <a:t>3</a:t>
            </a:r>
            <a:r>
              <a:rPr sz="1200" dirty="0">
                <a:solidFill>
                  <a:srgbClr val="696969"/>
                </a:solidFill>
                <a:latin typeface="Arial"/>
                <a:cs typeface="Arial"/>
              </a:rPr>
              <a:t>	</a:t>
            </a:r>
            <a:r>
              <a:rPr sz="1200" spc="-10" dirty="0">
                <a:solidFill>
                  <a:srgbClr val="696969"/>
                </a:solidFill>
                <a:latin typeface="Arial"/>
                <a:cs typeface="Arial"/>
              </a:rPr>
              <a:t>Деректер</a:t>
            </a:r>
            <a:r>
              <a:rPr sz="1200" dirty="0">
                <a:solidFill>
                  <a:srgbClr val="696969"/>
                </a:solidFill>
                <a:latin typeface="Arial"/>
                <a:cs typeface="Arial"/>
              </a:rPr>
              <a:t>	ауgымдарды</a:t>
            </a:r>
            <a:r>
              <a:rPr sz="1200" spc="350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96969"/>
                </a:solidFill>
                <a:latin typeface="Arial"/>
                <a:cs typeface="Arial"/>
              </a:rPr>
              <a:t>тек</a:t>
            </a:r>
            <a:r>
              <a:rPr sz="1200" spc="240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96969"/>
                </a:solidFill>
                <a:latin typeface="Arial"/>
                <a:cs typeface="Arial"/>
              </a:rPr>
              <a:t>Streamlit</a:t>
            </a:r>
            <a:r>
              <a:rPr sz="1200" spc="28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96969"/>
                </a:solidFill>
                <a:latin typeface="Arial"/>
                <a:cs typeface="Arial"/>
              </a:rPr>
              <a:t>тексереді,</a:t>
            </a:r>
            <a:r>
              <a:rPr sz="1200" spc="33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96969"/>
                </a:solidFill>
                <a:latin typeface="Arial"/>
                <a:cs typeface="Arial"/>
              </a:rPr>
              <a:t>Tkinter-де</a:t>
            </a:r>
            <a:r>
              <a:rPr sz="1200" spc="27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96969"/>
                </a:solidFill>
                <a:latin typeface="Arial"/>
                <a:cs typeface="Arial"/>
              </a:rPr>
              <a:t>тексеру</a:t>
            </a:r>
            <a:r>
              <a:rPr sz="1200" spc="240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696969"/>
                </a:solidFill>
                <a:latin typeface="Arial"/>
                <a:cs typeface="Arial"/>
              </a:rPr>
              <a:t>not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30"/>
              </a:spcBef>
            </a:pPr>
            <a:r>
              <a:rPr dirty="0"/>
              <a:t>Ыцтималдыц</a:t>
            </a:r>
            <a:r>
              <a:rPr spc="425" dirty="0"/>
              <a:t> </a:t>
            </a:r>
            <a:r>
              <a:rPr dirty="0"/>
              <a:t>цалай</a:t>
            </a:r>
            <a:r>
              <a:rPr spc="235" dirty="0"/>
              <a:t> </a:t>
            </a:r>
            <a:r>
              <a:rPr spc="40" dirty="0"/>
              <a:t>есептеледі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03063" y="1672167"/>
          <a:ext cx="5288915" cy="3085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215"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750" spc="-1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белгі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spc="5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Салмагы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750" spc="-2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Жасы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571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700" spc="5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0.04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11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Систолалыц</a:t>
                      </a:r>
                      <a:r>
                        <a:rPr sz="1800" spc="2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АЦ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650" spc="7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0.03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666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750" spc="-1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Холестерин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800" spc="-2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0.25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1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Глюкоза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750" spc="-2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0.15</a:t>
                      </a:r>
                      <a:endParaRPr sz="175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750" spc="-3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Темекі</a:t>
                      </a:r>
                      <a:r>
                        <a:rPr sz="1750" spc="-9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750" spc="-20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шегу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650" spc="6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0.60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717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750" spc="-25" dirty="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ДСИ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650" spc="6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0.05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T="679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6318250" y="1663700"/>
            <a:ext cx="5064125" cy="252412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282575" rIns="0" bIns="0" rtlCol="0">
            <a:spAutoFit/>
          </a:bodyPr>
          <a:lstStyle/>
          <a:p>
            <a:pPr marL="312420">
              <a:lnSpc>
                <a:spcPct val="100000"/>
              </a:lnSpc>
              <a:spcBef>
                <a:spcPts val="2225"/>
              </a:spcBef>
            </a:pPr>
            <a:r>
              <a:rPr sz="2150" spc="125" dirty="0">
                <a:solidFill>
                  <a:srgbClr val="2DC3A8"/>
                </a:solidFill>
                <a:latin typeface="Calibri"/>
                <a:cs typeface="Calibri"/>
              </a:rPr>
              <a:t>формула</a:t>
            </a:r>
            <a:endParaRPr sz="2150">
              <a:latin typeface="Calibri"/>
              <a:cs typeface="Calibri"/>
            </a:endParaRPr>
          </a:p>
          <a:p>
            <a:pPr marL="313055">
              <a:lnSpc>
                <a:spcPct val="100000"/>
              </a:lnSpc>
              <a:spcBef>
                <a:spcPts val="1170"/>
              </a:spcBef>
            </a:pPr>
            <a:r>
              <a:rPr sz="1950" spc="65" dirty="0">
                <a:solidFill>
                  <a:srgbClr val="EFEFEF"/>
                </a:solidFill>
                <a:latin typeface="Calibri"/>
                <a:cs typeface="Calibri"/>
              </a:rPr>
              <a:t>z</a:t>
            </a:r>
            <a:r>
              <a:rPr sz="1950" spc="275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EFEFEF"/>
                </a:solidFill>
                <a:latin typeface="Calibri"/>
                <a:cs typeface="Calibri"/>
              </a:rPr>
              <a:t>=</a:t>
            </a:r>
            <a:r>
              <a:rPr sz="1950" spc="235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1950" spc="65" dirty="0">
                <a:solidFill>
                  <a:srgbClr val="EFEFEF"/>
                </a:solidFill>
                <a:latin typeface="Calibri"/>
                <a:cs typeface="Calibri"/>
              </a:rPr>
              <a:t>Z(белги</a:t>
            </a:r>
            <a:r>
              <a:rPr sz="1950" spc="285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EFEFEF"/>
                </a:solidFill>
                <a:latin typeface="Calibri"/>
                <a:cs typeface="Calibri"/>
              </a:rPr>
              <a:t>х</a:t>
            </a:r>
            <a:r>
              <a:rPr sz="1950" spc="225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EFEFEF"/>
                </a:solidFill>
                <a:latin typeface="Calibri"/>
                <a:cs typeface="Calibri"/>
              </a:rPr>
              <a:t>салМац)</a:t>
            </a:r>
            <a:r>
              <a:rPr sz="1950" spc="254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1950" spc="-830" dirty="0">
                <a:solidFill>
                  <a:srgbClr val="EFEFEF"/>
                </a:solidFill>
                <a:latin typeface="Calibri"/>
                <a:cs typeface="Calibri"/>
              </a:rPr>
              <a:t>—</a:t>
            </a:r>
            <a:r>
              <a:rPr sz="1950" spc="29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1950" spc="-25" dirty="0">
                <a:solidFill>
                  <a:srgbClr val="EFEFEF"/>
                </a:solidFill>
                <a:latin typeface="Calibri"/>
                <a:cs typeface="Calibri"/>
              </a:rPr>
              <a:t>8.5</a:t>
            </a:r>
            <a:endParaRPr sz="1950">
              <a:latin typeface="Calibri"/>
              <a:cs typeface="Calibri"/>
            </a:endParaRPr>
          </a:p>
          <a:p>
            <a:pPr marL="311150">
              <a:lnSpc>
                <a:spcPct val="100000"/>
              </a:lnSpc>
              <a:spcBef>
                <a:spcPts val="1360"/>
              </a:spcBef>
            </a:pPr>
            <a:r>
              <a:rPr sz="2000" dirty="0">
                <a:solidFill>
                  <a:srgbClr val="EFEFEF"/>
                </a:solidFill>
                <a:latin typeface="Calibri"/>
                <a:cs typeface="Calibri"/>
              </a:rPr>
              <a:t>р</a:t>
            </a:r>
            <a:r>
              <a:rPr sz="2000" spc="5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EFEFEF"/>
                </a:solidFill>
                <a:latin typeface="Calibri"/>
                <a:cs typeface="Calibri"/>
              </a:rPr>
              <a:t>=</a:t>
            </a:r>
            <a:r>
              <a:rPr sz="2000" spc="6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000" spc="-385" dirty="0">
                <a:solidFill>
                  <a:srgbClr val="EFEFEF"/>
                </a:solidFill>
                <a:latin typeface="Calibri"/>
                <a:cs typeface="Calibri"/>
              </a:rPr>
              <a:t>1</a:t>
            </a:r>
            <a:r>
              <a:rPr sz="2000" spc="55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000" i="1" spc="80" dirty="0">
                <a:solidFill>
                  <a:srgbClr val="EFEFEF"/>
                </a:solidFill>
                <a:latin typeface="Calibri"/>
                <a:cs typeface="Calibri"/>
              </a:rPr>
              <a:t>|</a:t>
            </a:r>
            <a:r>
              <a:rPr sz="2000" i="1" spc="-105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000" spc="-114" dirty="0">
                <a:solidFill>
                  <a:srgbClr val="EFEFEF"/>
                </a:solidFill>
                <a:latin typeface="Calibri"/>
                <a:cs typeface="Calibri"/>
              </a:rPr>
              <a:t>(1</a:t>
            </a:r>
            <a:r>
              <a:rPr sz="2000" spc="235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EFEFEF"/>
                </a:solidFill>
                <a:latin typeface="Calibri"/>
                <a:cs typeface="Calibri"/>
              </a:rPr>
              <a:t>+</a:t>
            </a:r>
            <a:r>
              <a:rPr sz="2000" i="1" spc="165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000" i="1" spc="-380" dirty="0">
                <a:solidFill>
                  <a:srgbClr val="EFEFEF"/>
                </a:solidFill>
                <a:latin typeface="Calibri"/>
                <a:cs typeface="Calibri"/>
              </a:rPr>
              <a:t>e—</a:t>
            </a:r>
            <a:r>
              <a:rPr sz="2000" i="1" spc="-150" dirty="0">
                <a:solidFill>
                  <a:srgbClr val="EFEFEF"/>
                </a:solidFill>
                <a:latin typeface="Calibri"/>
                <a:cs typeface="Calibri"/>
              </a:rPr>
              <a:t> </a:t>
            </a:r>
            <a:r>
              <a:rPr sz="2000" i="1" spc="-25" dirty="0">
                <a:solidFill>
                  <a:srgbClr val="EFEFEF"/>
                </a:solidFill>
                <a:latin typeface="Calibri"/>
                <a:cs typeface="Calibri"/>
              </a:rPr>
              <a:t>z)</a:t>
            </a:r>
            <a:endParaRPr sz="2000">
              <a:latin typeface="Calibri"/>
              <a:cs typeface="Calibri"/>
            </a:endParaRPr>
          </a:p>
          <a:p>
            <a:pPr marL="314960">
              <a:lnSpc>
                <a:spcPct val="100000"/>
              </a:lnSpc>
              <a:spcBef>
                <a:spcPts val="1525"/>
              </a:spcBef>
            </a:pPr>
            <a:r>
              <a:rPr sz="1350" dirty="0">
                <a:solidFill>
                  <a:srgbClr val="B3B3B3"/>
                </a:solidFill>
                <a:latin typeface="Arial"/>
                <a:cs typeface="Arial"/>
              </a:rPr>
              <a:t>CafiMaцTap</a:t>
            </a:r>
            <a:r>
              <a:rPr sz="1350" spc="90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1350" spc="-40" dirty="0">
                <a:solidFill>
                  <a:srgbClr val="B3B3B3"/>
                </a:solidFill>
                <a:latin typeface="Arial"/>
                <a:cs typeface="Arial"/>
              </a:rPr>
              <a:t>МеН</a:t>
            </a:r>
            <a:r>
              <a:rPr sz="1350" spc="30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B3B3B3"/>
                </a:solidFill>
                <a:latin typeface="Arial"/>
                <a:cs typeface="Arial"/>
              </a:rPr>
              <a:t>боС</a:t>
            </a:r>
            <a:r>
              <a:rPr sz="1350" spc="20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B3B3B3"/>
                </a:solidFill>
                <a:latin typeface="Arial"/>
                <a:cs typeface="Arial"/>
              </a:rPr>
              <a:t>Муше</a:t>
            </a:r>
            <a:r>
              <a:rPr sz="1350" spc="50" dirty="0">
                <a:solidFill>
                  <a:srgbClr val="B3B3B3"/>
                </a:solidFill>
                <a:latin typeface="Arial"/>
                <a:cs typeface="Arial"/>
              </a:rPr>
              <a:t> MedicalDiagnosisSystem</a:t>
            </a:r>
            <a:endParaRPr sz="135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455"/>
              </a:spcBef>
            </a:pPr>
            <a:r>
              <a:rPr sz="1250" dirty="0">
                <a:solidFill>
                  <a:srgbClr val="B3B3B3"/>
                </a:solidFill>
                <a:latin typeface="Arial"/>
                <a:cs typeface="Arial"/>
              </a:rPr>
              <a:t>KfiaCblHpa</a:t>
            </a:r>
            <a:r>
              <a:rPr sz="1250" spc="250" dirty="0">
                <a:solidFill>
                  <a:srgbClr val="B3B3B3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B3B3B3"/>
                </a:solidFill>
                <a:latin typeface="Arial"/>
                <a:cs typeface="Arial"/>
              </a:rPr>
              <a:t>‹?ерілгеН.</a:t>
            </a:r>
            <a:endParaRPr sz="12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6007" y="6227409"/>
            <a:ext cx="817244" cy="2108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34950" algn="l"/>
              </a:tabLst>
            </a:pPr>
            <a:r>
              <a:rPr sz="1200" spc="-50" dirty="0">
                <a:solidFill>
                  <a:srgbClr val="696969"/>
                </a:solidFill>
                <a:latin typeface="Calibri"/>
                <a:cs typeface="Calibri"/>
              </a:rPr>
              <a:t>4</a:t>
            </a:r>
            <a:r>
              <a:rPr sz="1200" dirty="0">
                <a:solidFill>
                  <a:srgbClr val="696969"/>
                </a:solidFill>
                <a:latin typeface="Calibri"/>
                <a:cs typeface="Calibri"/>
              </a:rPr>
              <a:t>	</a:t>
            </a:r>
            <a:r>
              <a:rPr sz="1200" spc="45" dirty="0">
                <a:solidFill>
                  <a:srgbClr val="696969"/>
                </a:solidFill>
                <a:latin typeface="Calibri"/>
                <a:cs typeface="Calibri"/>
              </a:rPr>
              <a:t>Модель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25"/>
              </a:spcBef>
            </a:pPr>
            <a:r>
              <a:rPr sz="4300" spc="114" dirty="0"/>
              <a:t>Жуйе</a:t>
            </a:r>
            <a:r>
              <a:rPr sz="4300" spc="-100" dirty="0"/>
              <a:t> </a:t>
            </a:r>
            <a:r>
              <a:rPr sz="4300" spc="-10" dirty="0"/>
              <a:t>архитектурасы</a:t>
            </a:r>
            <a:endParaRPr sz="43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450" y="1663700"/>
            <a:ext cx="3435350" cy="1803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50200" y="1663700"/>
            <a:ext cx="3435350" cy="180340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447962" y="1676612"/>
            <a:ext cx="3315970" cy="0"/>
          </a:xfrm>
          <a:custGeom>
            <a:avLst/>
            <a:gdLst/>
            <a:ahLst/>
            <a:cxnLst/>
            <a:rect l="l" t="t" r="r" b="b"/>
            <a:pathLst>
              <a:path w="3315970">
                <a:moveTo>
                  <a:pt x="0" y="0"/>
                </a:moveTo>
                <a:lnTo>
                  <a:pt x="3315969" y="0"/>
                </a:lnTo>
              </a:path>
            </a:pathLst>
          </a:custGeom>
          <a:ln w="88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02193" y="2071547"/>
            <a:ext cx="2934335" cy="117729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150" spc="50" dirty="0">
                <a:solidFill>
                  <a:srgbClr val="1A1A1A"/>
                </a:solidFill>
                <a:latin typeface="Calibri"/>
                <a:cs typeface="Calibri"/>
              </a:rPr>
              <a:t>Kipic</a:t>
            </a:r>
            <a:endParaRPr sz="2150">
              <a:latin typeface="Calibri"/>
              <a:cs typeface="Calibri"/>
            </a:endParaRPr>
          </a:p>
          <a:p>
            <a:pPr marL="17145" marR="5080" indent="10795">
              <a:lnSpc>
                <a:spcPct val="91500"/>
              </a:lnSpc>
              <a:spcBef>
                <a:spcPts val="540"/>
              </a:spcBef>
            </a:pPr>
            <a:r>
              <a:rPr sz="1650" spc="-30" dirty="0">
                <a:solidFill>
                  <a:srgbClr val="444444"/>
                </a:solidFill>
                <a:latin typeface="Calibri"/>
                <a:cs typeface="Calibri"/>
              </a:rPr>
              <a:t>Tkinter</a:t>
            </a:r>
            <a:r>
              <a:rPr sz="1650" spc="-1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444444"/>
                </a:solidFill>
                <a:latin typeface="Calibri"/>
                <a:cs typeface="Calibri"/>
              </a:rPr>
              <a:t>немесе</a:t>
            </a:r>
            <a:r>
              <a:rPr sz="1650" spc="3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650" spc="-70" dirty="0">
                <a:solidFill>
                  <a:srgbClr val="444444"/>
                </a:solidFill>
                <a:latin typeface="Calibri"/>
                <a:cs typeface="Calibri"/>
              </a:rPr>
              <a:t>Streamlit-</a:t>
            </a:r>
            <a:r>
              <a:rPr sz="1650" spc="-20" dirty="0">
                <a:solidFill>
                  <a:srgbClr val="444444"/>
                </a:solidFill>
                <a:latin typeface="Calibri"/>
                <a:cs typeface="Calibri"/>
              </a:rPr>
              <a:t>meri </a:t>
            </a:r>
            <a:r>
              <a:rPr sz="1650" dirty="0">
                <a:solidFill>
                  <a:srgbClr val="444444"/>
                </a:solidFill>
                <a:latin typeface="Calibri"/>
                <a:cs typeface="Calibri"/>
              </a:rPr>
              <a:t>науцас</a:t>
            </a:r>
            <a:r>
              <a:rPr sz="1650" spc="-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650" spc="-30" dirty="0">
                <a:solidFill>
                  <a:srgbClr val="444444"/>
                </a:solidFill>
                <a:latin typeface="Calibri"/>
                <a:cs typeface="Calibri"/>
              </a:rPr>
              <a:t>формасы:</a:t>
            </a:r>
            <a:r>
              <a:rPr sz="1650" spc="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444444"/>
                </a:solidFill>
                <a:latin typeface="Calibri"/>
                <a:cs typeface="Calibri"/>
              </a:rPr>
              <a:t>алты</a:t>
            </a:r>
            <a:r>
              <a:rPr sz="1650" spc="-6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444444"/>
                </a:solidFill>
                <a:latin typeface="Calibri"/>
                <a:cs typeface="Calibri"/>
              </a:rPr>
              <a:t>керсеткіш жане</a:t>
            </a:r>
            <a:r>
              <a:rPr sz="1650" spc="-5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444444"/>
                </a:solidFill>
                <a:latin typeface="Calibri"/>
                <a:cs typeface="Calibri"/>
              </a:rPr>
              <a:t>науцас</a:t>
            </a:r>
            <a:r>
              <a:rPr sz="165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650" spc="-25" dirty="0">
                <a:solidFill>
                  <a:srgbClr val="444444"/>
                </a:solidFill>
                <a:latin typeface="Calibri"/>
                <a:cs typeface="Calibri"/>
              </a:rPr>
              <a:t>ID.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75667" y="1793727"/>
            <a:ext cx="2994025" cy="145161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750" spc="-50" dirty="0">
                <a:solidFill>
                  <a:srgbClr val="696969"/>
                </a:solidFill>
                <a:latin typeface="Courier New"/>
                <a:cs typeface="Courier New"/>
              </a:rPr>
              <a:t>2</a:t>
            </a:r>
            <a:endParaRPr sz="1750">
              <a:latin typeface="Courier New"/>
              <a:cs typeface="Courier New"/>
            </a:endParaRPr>
          </a:p>
          <a:p>
            <a:pPr marL="27305">
              <a:lnSpc>
                <a:spcPct val="100000"/>
              </a:lnSpc>
              <a:spcBef>
                <a:spcPts val="350"/>
              </a:spcBef>
            </a:pPr>
            <a:r>
              <a:rPr sz="2100" spc="-10" dirty="0">
                <a:solidFill>
                  <a:srgbClr val="1A1A1A"/>
                </a:solidFill>
                <a:latin typeface="Calibri"/>
                <a:cs typeface="Calibri"/>
              </a:rPr>
              <a:t>Дерекцор</a:t>
            </a:r>
            <a:endParaRPr sz="2100">
              <a:latin typeface="Calibri"/>
              <a:cs typeface="Calibri"/>
            </a:endParaRPr>
          </a:p>
          <a:p>
            <a:pPr marL="16510" marR="5080" indent="1270">
              <a:lnSpc>
                <a:spcPct val="100699"/>
              </a:lnSpc>
              <a:spcBef>
                <a:spcPts val="515"/>
              </a:spcBef>
            </a:pPr>
            <a:r>
              <a:rPr sz="1500" spc="55" dirty="0">
                <a:solidFill>
                  <a:srgbClr val="444444"/>
                </a:solidFill>
                <a:latin typeface="Calibri"/>
                <a:cs typeface="Calibri"/>
              </a:rPr>
              <a:t>Науцас</a:t>
            </a:r>
            <a:r>
              <a:rPr sz="1500" spc="34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44444"/>
                </a:solidFill>
                <a:latin typeface="Calibri"/>
                <a:cs typeface="Calibri"/>
              </a:rPr>
              <a:t>жазбаларын</a:t>
            </a:r>
            <a:r>
              <a:rPr sz="1500" spc="36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spc="40" dirty="0">
                <a:solidFill>
                  <a:srgbClr val="444444"/>
                </a:solidFill>
                <a:latin typeface="Calibri"/>
                <a:cs typeface="Calibri"/>
              </a:rPr>
              <a:t>сацтау. </a:t>
            </a:r>
            <a:r>
              <a:rPr sz="1500" dirty="0">
                <a:solidFill>
                  <a:srgbClr val="444444"/>
                </a:solidFill>
                <a:latin typeface="Calibri"/>
                <a:cs typeface="Calibri"/>
              </a:rPr>
              <a:t>Жоспарда:</a:t>
            </a:r>
            <a:r>
              <a:rPr sz="1500" spc="43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44444"/>
                </a:solidFill>
                <a:latin typeface="Calibri"/>
                <a:cs typeface="Calibri"/>
              </a:rPr>
              <a:t>цазіргі</a:t>
            </a:r>
            <a:r>
              <a:rPr sz="1500" spc="30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44444"/>
                </a:solidFill>
                <a:latin typeface="Calibri"/>
                <a:cs typeface="Calibri"/>
              </a:rPr>
              <a:t>кодта</a:t>
            </a:r>
            <a:r>
              <a:rPr sz="1500" spc="37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4444"/>
                </a:solidFill>
                <a:latin typeface="Calibri"/>
                <a:cs typeface="Calibri"/>
              </a:rPr>
              <a:t>дерекцор </a:t>
            </a:r>
            <a:r>
              <a:rPr sz="1500" spc="-20" dirty="0">
                <a:solidFill>
                  <a:srgbClr val="444444"/>
                </a:solidFill>
                <a:latin typeface="Calibri"/>
                <a:cs typeface="Calibri"/>
              </a:rPr>
              <a:t>жоц.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57036" y="2051874"/>
            <a:ext cx="2917825" cy="96139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815"/>
              </a:spcBef>
            </a:pPr>
            <a:r>
              <a:rPr sz="2100" dirty="0">
                <a:solidFill>
                  <a:srgbClr val="1A1A1A"/>
                </a:solidFill>
                <a:latin typeface="Calibri"/>
                <a:cs typeface="Calibri"/>
              </a:rPr>
              <a:t>Дерекцордан</a:t>
            </a:r>
            <a:r>
              <a:rPr sz="2100" spc="18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1A1A1A"/>
                </a:solidFill>
                <a:latin typeface="Calibri"/>
                <a:cs typeface="Calibri"/>
              </a:rPr>
              <a:t>алу</a:t>
            </a:r>
            <a:endParaRPr sz="2100">
              <a:latin typeface="Calibri"/>
              <a:cs typeface="Calibri"/>
            </a:endParaRPr>
          </a:p>
          <a:p>
            <a:pPr marL="12700" marR="5080" indent="-635">
              <a:lnSpc>
                <a:spcPct val="100000"/>
              </a:lnSpc>
              <a:spcBef>
                <a:spcPts val="530"/>
              </a:spcBef>
            </a:pPr>
            <a:r>
              <a:rPr sz="1500" spc="55" dirty="0">
                <a:solidFill>
                  <a:srgbClr val="444444"/>
                </a:solidFill>
                <a:latin typeface="Calibri"/>
                <a:cs typeface="Calibri"/>
              </a:rPr>
              <a:t>Сацталган</a:t>
            </a:r>
            <a:r>
              <a:rPr sz="1500" spc="34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44444"/>
                </a:solidFill>
                <a:latin typeface="Calibri"/>
                <a:cs typeface="Calibri"/>
              </a:rPr>
              <a:t>жазбаларды</a:t>
            </a:r>
            <a:r>
              <a:rPr sz="1500" spc="44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4444"/>
                </a:solidFill>
                <a:latin typeface="Calibri"/>
                <a:cs typeface="Calibri"/>
              </a:rPr>
              <a:t>модульге </a:t>
            </a:r>
            <a:r>
              <a:rPr sz="1500" spc="50" dirty="0">
                <a:solidFill>
                  <a:srgbClr val="444444"/>
                </a:solidFill>
                <a:latin typeface="Calibri"/>
                <a:cs typeface="Calibri"/>
              </a:rPr>
              <a:t>жуктеу.</a:t>
            </a:r>
            <a:r>
              <a:rPr sz="1500" spc="12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4444"/>
                </a:solidFill>
                <a:latin typeface="Calibri"/>
                <a:cs typeface="Calibri"/>
              </a:rPr>
              <a:t>Жоспарда.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6450" y="3810000"/>
            <a:ext cx="3435350" cy="17970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50200" y="3810000"/>
            <a:ext cx="3435350" cy="179705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447962" y="3819102"/>
            <a:ext cx="3315970" cy="0"/>
          </a:xfrm>
          <a:custGeom>
            <a:avLst/>
            <a:gdLst/>
            <a:ahLst/>
            <a:cxnLst/>
            <a:rect l="l" t="t" r="r" b="b"/>
            <a:pathLst>
              <a:path w="3315970">
                <a:moveTo>
                  <a:pt x="0" y="0"/>
                </a:moveTo>
                <a:lnTo>
                  <a:pt x="3315969" y="0"/>
                </a:lnTo>
              </a:path>
            </a:pathLst>
          </a:custGeom>
          <a:ln w="88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02711" y="4188428"/>
            <a:ext cx="2905760" cy="120015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2100" spc="-10" dirty="0">
                <a:solidFill>
                  <a:srgbClr val="1A1A1A"/>
                </a:solidFill>
                <a:latin typeface="Calibri"/>
                <a:cs typeface="Calibri"/>
              </a:rPr>
              <a:t>Модель</a:t>
            </a:r>
            <a:endParaRPr sz="2100">
              <a:latin typeface="Calibri"/>
              <a:cs typeface="Calibri"/>
            </a:endParaRPr>
          </a:p>
          <a:p>
            <a:pPr marL="20320" marR="5080" indent="8255">
              <a:lnSpc>
                <a:spcPct val="100699"/>
              </a:lnSpc>
              <a:spcBef>
                <a:spcPts val="515"/>
              </a:spcBef>
            </a:pPr>
            <a:r>
              <a:rPr sz="1500" dirty="0">
                <a:solidFill>
                  <a:srgbClr val="444444"/>
                </a:solidFill>
                <a:latin typeface="Calibri"/>
                <a:cs typeface="Calibri"/>
              </a:rPr>
              <a:t>Логистикалыц</a:t>
            </a:r>
            <a:r>
              <a:rPr sz="1500" spc="155" dirty="0">
                <a:solidFill>
                  <a:srgbClr val="444444"/>
                </a:solidFill>
                <a:latin typeface="Calibri"/>
                <a:cs typeface="Calibri"/>
              </a:rPr>
              <a:t>  </a:t>
            </a:r>
            <a:r>
              <a:rPr sz="1500" spc="50" dirty="0">
                <a:solidFill>
                  <a:srgbClr val="444444"/>
                </a:solidFill>
                <a:latin typeface="Calibri"/>
                <a:cs typeface="Calibri"/>
              </a:rPr>
              <a:t>регрессия: </a:t>
            </a:r>
            <a:r>
              <a:rPr sz="1500" dirty="0">
                <a:solidFill>
                  <a:srgbClr val="444444"/>
                </a:solidFill>
                <a:latin typeface="Calibri"/>
                <a:cs typeface="Calibri"/>
              </a:rPr>
              <a:t>елшенген</a:t>
            </a:r>
            <a:r>
              <a:rPr sz="1500" spc="38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44444"/>
                </a:solidFill>
                <a:latin typeface="Calibri"/>
                <a:cs typeface="Calibri"/>
              </a:rPr>
              <a:t>цосынды</a:t>
            </a:r>
            <a:r>
              <a:rPr sz="1500" spc="37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spc="30" dirty="0">
                <a:solidFill>
                  <a:srgbClr val="444444"/>
                </a:solidFill>
                <a:latin typeface="Calibri"/>
                <a:cs typeface="Calibri"/>
              </a:rPr>
              <a:t>жане </a:t>
            </a:r>
            <a:r>
              <a:rPr sz="1500" dirty="0">
                <a:solidFill>
                  <a:srgbClr val="444444"/>
                </a:solidFill>
                <a:latin typeface="Calibri"/>
                <a:cs typeface="Calibri"/>
              </a:rPr>
              <a:t>сигмоида</a:t>
            </a:r>
            <a:r>
              <a:rPr sz="1500" spc="39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44444"/>
                </a:solidFill>
                <a:latin typeface="Calibri"/>
                <a:cs typeface="Calibri"/>
              </a:rPr>
              <a:t>ыцтималдыцты</a:t>
            </a:r>
            <a:r>
              <a:rPr sz="1500" spc="150" dirty="0">
                <a:solidFill>
                  <a:srgbClr val="444444"/>
                </a:solidFill>
                <a:latin typeface="Calibri"/>
                <a:cs typeface="Calibri"/>
              </a:rPr>
              <a:t>  </a:t>
            </a:r>
            <a:r>
              <a:rPr sz="1500" spc="-10" dirty="0">
                <a:solidFill>
                  <a:srgbClr val="444444"/>
                </a:solidFill>
                <a:latin typeface="Calibri"/>
                <a:cs typeface="Calibri"/>
              </a:rPr>
              <a:t>береді.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74587" y="3955007"/>
            <a:ext cx="2696210" cy="143319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355"/>
              </a:spcBef>
            </a:pPr>
            <a:r>
              <a:rPr sz="1650" spc="15" dirty="0">
                <a:solidFill>
                  <a:srgbClr val="696969"/>
                </a:solidFill>
                <a:latin typeface="Calibri"/>
                <a:cs typeface="Calibri"/>
              </a:rPr>
              <a:t>5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100" spc="-10" dirty="0">
                <a:solidFill>
                  <a:srgbClr val="1A1A1A"/>
                </a:solidFill>
                <a:latin typeface="Calibri"/>
                <a:cs typeface="Calibri"/>
              </a:rPr>
              <a:t>Ережелер</a:t>
            </a:r>
            <a:endParaRPr sz="2100">
              <a:latin typeface="Calibri"/>
              <a:cs typeface="Calibri"/>
            </a:endParaRPr>
          </a:p>
          <a:p>
            <a:pPr marL="20955" marR="5080" indent="1905">
              <a:lnSpc>
                <a:spcPct val="100699"/>
              </a:lnSpc>
              <a:spcBef>
                <a:spcPts val="520"/>
              </a:spcBef>
            </a:pPr>
            <a:r>
              <a:rPr sz="1500" dirty="0">
                <a:solidFill>
                  <a:srgbClr val="444444"/>
                </a:solidFill>
                <a:latin typeface="Calibri"/>
                <a:cs typeface="Calibri"/>
              </a:rPr>
              <a:t>Сыни</a:t>
            </a:r>
            <a:r>
              <a:rPr sz="1500" spc="25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44444"/>
                </a:solidFill>
                <a:latin typeface="Calibri"/>
                <a:cs typeface="Calibri"/>
              </a:rPr>
              <a:t>цысым,</a:t>
            </a:r>
            <a:r>
              <a:rPr sz="1500" spc="35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4444"/>
                </a:solidFill>
                <a:latin typeface="Calibri"/>
                <a:cs typeface="Calibri"/>
              </a:rPr>
              <a:t>холестерин, </a:t>
            </a:r>
            <a:r>
              <a:rPr sz="1500" dirty="0">
                <a:solidFill>
                  <a:srgbClr val="444444"/>
                </a:solidFill>
                <a:latin typeface="Calibri"/>
                <a:cs typeface="Calibri"/>
              </a:rPr>
              <a:t>глюкоза</a:t>
            </a:r>
            <a:r>
              <a:rPr sz="1500" spc="29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spc="50" dirty="0">
                <a:solidFill>
                  <a:srgbClr val="444444"/>
                </a:solidFill>
                <a:latin typeface="Calibri"/>
                <a:cs typeface="Calibri"/>
              </a:rPr>
              <a:t>жане</a:t>
            </a:r>
            <a:r>
              <a:rPr sz="1500" spc="254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44444"/>
                </a:solidFill>
                <a:latin typeface="Calibri"/>
                <a:cs typeface="Calibri"/>
              </a:rPr>
              <a:t>темекі</a:t>
            </a:r>
            <a:r>
              <a:rPr sz="1500" spc="37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4444"/>
                </a:solidFill>
                <a:latin typeface="Calibri"/>
                <a:cs typeface="Calibri"/>
              </a:rPr>
              <a:t>белгілері </a:t>
            </a:r>
            <a:r>
              <a:rPr sz="1500" dirty="0">
                <a:solidFill>
                  <a:srgbClr val="444444"/>
                </a:solidFill>
                <a:latin typeface="Calibri"/>
                <a:cs typeface="Calibri"/>
              </a:rPr>
              <a:t>цауіп</a:t>
            </a:r>
            <a:r>
              <a:rPr sz="1500" spc="17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44444"/>
                </a:solidFill>
                <a:latin typeface="Calibri"/>
                <a:cs typeface="Calibri"/>
              </a:rPr>
              <a:t>децгейін</a:t>
            </a:r>
            <a:r>
              <a:rPr sz="1500" spc="26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4444"/>
                </a:solidFill>
                <a:latin typeface="Calibri"/>
                <a:cs typeface="Calibri"/>
              </a:rPr>
              <a:t>аныцтайды.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46461" y="4188428"/>
            <a:ext cx="2872740" cy="120015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2100" spc="-10" dirty="0">
                <a:solidFill>
                  <a:srgbClr val="1A1A1A"/>
                </a:solidFill>
                <a:latin typeface="Calibri"/>
                <a:cs typeface="Calibri"/>
              </a:rPr>
              <a:t>Натиже</a:t>
            </a:r>
            <a:endParaRPr sz="2100">
              <a:latin typeface="Calibri"/>
              <a:cs typeface="Calibri"/>
            </a:endParaRPr>
          </a:p>
          <a:p>
            <a:pPr marL="20955" marR="5080" indent="1270">
              <a:lnSpc>
                <a:spcPct val="100699"/>
              </a:lnSpc>
              <a:spcBef>
                <a:spcPts val="515"/>
              </a:spcBef>
            </a:pPr>
            <a:r>
              <a:rPr sz="1500" dirty="0">
                <a:solidFill>
                  <a:srgbClr val="444444"/>
                </a:solidFill>
                <a:latin typeface="Calibri"/>
                <a:cs typeface="Calibri"/>
              </a:rPr>
              <a:t>Ыцтималдыц,</a:t>
            </a:r>
            <a:r>
              <a:rPr sz="1500" spc="36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44444"/>
                </a:solidFill>
                <a:latin typeface="Calibri"/>
                <a:cs typeface="Calibri"/>
              </a:rPr>
              <a:t>децгей,</a:t>
            </a:r>
            <a:r>
              <a:rPr sz="1500" spc="29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4444"/>
                </a:solidFill>
                <a:latin typeface="Calibri"/>
                <a:cs typeface="Calibri"/>
              </a:rPr>
              <a:t>факторлар </a:t>
            </a:r>
            <a:r>
              <a:rPr sz="1500" dirty="0">
                <a:solidFill>
                  <a:srgbClr val="444444"/>
                </a:solidFill>
                <a:latin typeface="Calibri"/>
                <a:cs typeface="Calibri"/>
              </a:rPr>
              <a:t>жане</a:t>
            </a:r>
            <a:r>
              <a:rPr sz="1500" spc="229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spc="50" dirty="0">
                <a:solidFill>
                  <a:srgbClr val="444444"/>
                </a:solidFill>
                <a:latin typeface="Calibri"/>
                <a:cs typeface="Calibri"/>
              </a:rPr>
              <a:t>усыныс</a:t>
            </a:r>
            <a:r>
              <a:rPr sz="1500" spc="27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4444"/>
                </a:solidFill>
                <a:latin typeface="Calibri"/>
                <a:cs typeface="Calibri"/>
              </a:rPr>
              <a:t>паидаланушыга керсетіледі.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0796" y="6202715"/>
            <a:ext cx="437324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33679" algn="l"/>
                <a:tab pos="1308735" algn="l"/>
              </a:tabLst>
            </a:pPr>
            <a:r>
              <a:rPr sz="1400" spc="-50" dirty="0">
                <a:solidFill>
                  <a:srgbClr val="696969"/>
                </a:solidFill>
                <a:latin typeface="Calibri"/>
                <a:cs typeface="Calibri"/>
              </a:rPr>
              <a:t>5</a:t>
            </a:r>
            <a:r>
              <a:rPr sz="1400" dirty="0">
                <a:solidFill>
                  <a:srgbClr val="696969"/>
                </a:solidFill>
                <a:latin typeface="Calibri"/>
                <a:cs typeface="Calibri"/>
              </a:rPr>
              <a:t>	</a:t>
            </a:r>
            <a:r>
              <a:rPr sz="1400" spc="-10" dirty="0">
                <a:solidFill>
                  <a:srgbClr val="696969"/>
                </a:solidFill>
                <a:latin typeface="Calibri"/>
                <a:cs typeface="Calibri"/>
              </a:rPr>
              <a:t>Архитектура</a:t>
            </a:r>
            <a:r>
              <a:rPr sz="1400" dirty="0">
                <a:solidFill>
                  <a:srgbClr val="696969"/>
                </a:solidFill>
                <a:latin typeface="Calibri"/>
                <a:cs typeface="Calibri"/>
              </a:rPr>
              <a:t>	сары</a:t>
            </a:r>
            <a:r>
              <a:rPr sz="1400" spc="35" dirty="0">
                <a:solidFill>
                  <a:srgbClr val="69696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696969"/>
                </a:solidFill>
                <a:latin typeface="Calibri"/>
                <a:cs typeface="Calibri"/>
              </a:rPr>
              <a:t>блоктар</a:t>
            </a:r>
            <a:r>
              <a:rPr sz="1400" spc="50" dirty="0">
                <a:solidFill>
                  <a:srgbClr val="69696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696969"/>
                </a:solidFill>
                <a:latin typeface="Calibri"/>
                <a:cs typeface="Calibri"/>
              </a:rPr>
              <a:t>жоспарда,</a:t>
            </a:r>
            <a:r>
              <a:rPr sz="1400" spc="70" dirty="0">
                <a:solidFill>
                  <a:srgbClr val="69696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696969"/>
                </a:solidFill>
                <a:latin typeface="Calibri"/>
                <a:cs typeface="Calibri"/>
              </a:rPr>
              <a:t>алі</a:t>
            </a:r>
            <a:r>
              <a:rPr sz="1400" spc="-15" dirty="0">
                <a:solidFill>
                  <a:srgbClr val="69696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696969"/>
                </a:solidFill>
                <a:latin typeface="Calibri"/>
                <a:cs typeface="Calibri"/>
              </a:rPr>
              <a:t>жасалмаган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1375" y="876300"/>
            <a:ext cx="7385050" cy="450850"/>
          </a:xfrm>
          <a:custGeom>
            <a:avLst/>
            <a:gdLst/>
            <a:ahLst/>
            <a:cxnLst/>
            <a:rect l="l" t="t" r="r" b="b"/>
            <a:pathLst>
              <a:path w="7385050" h="450850">
                <a:moveTo>
                  <a:pt x="7385048" y="450849"/>
                </a:moveTo>
                <a:lnTo>
                  <a:pt x="0" y="450849"/>
                </a:lnTo>
                <a:lnTo>
                  <a:pt x="0" y="0"/>
                </a:lnTo>
                <a:lnTo>
                  <a:pt x="7385048" y="0"/>
                </a:lnTo>
                <a:lnTo>
                  <a:pt x="7385048" y="450849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100" spc="110" dirty="0">
                <a:solidFill>
                  <a:srgbClr val="F0F0F0"/>
                </a:solidFill>
              </a:rPr>
              <a:t>Цауіп</a:t>
            </a:r>
            <a:r>
              <a:rPr sz="4100" spc="160" dirty="0">
                <a:solidFill>
                  <a:srgbClr val="F0F0F0"/>
                </a:solidFill>
              </a:rPr>
              <a:t> </a:t>
            </a:r>
            <a:r>
              <a:rPr sz="4100" dirty="0">
                <a:solidFill>
                  <a:srgbClr val="F0F0F0"/>
                </a:solidFill>
              </a:rPr>
              <a:t>децгейлері</a:t>
            </a:r>
            <a:r>
              <a:rPr sz="4100" spc="409" dirty="0">
                <a:solidFill>
                  <a:srgbClr val="F0F0F0"/>
                </a:solidFill>
              </a:rPr>
              <a:t> </a:t>
            </a:r>
            <a:r>
              <a:rPr sz="4100" dirty="0">
                <a:solidFill>
                  <a:srgbClr val="F0F0F0"/>
                </a:solidFill>
              </a:rPr>
              <a:t>мен</a:t>
            </a:r>
            <a:r>
              <a:rPr sz="4100" spc="95" dirty="0">
                <a:solidFill>
                  <a:srgbClr val="F0F0F0"/>
                </a:solidFill>
              </a:rPr>
              <a:t> </a:t>
            </a:r>
            <a:r>
              <a:rPr sz="4100" spc="50" dirty="0">
                <a:solidFill>
                  <a:srgbClr val="F0F0F0"/>
                </a:solidFill>
              </a:rPr>
              <a:t>ережелер</a:t>
            </a:r>
            <a:endParaRPr sz="4100"/>
          </a:p>
        </p:txBody>
      </p:sp>
      <p:grpSp>
        <p:nvGrpSpPr>
          <p:cNvPr id="4" name="object 4"/>
          <p:cNvGrpSpPr/>
          <p:nvPr/>
        </p:nvGrpSpPr>
        <p:grpSpPr>
          <a:xfrm>
            <a:off x="0" y="1663700"/>
            <a:ext cx="12192000" cy="107950"/>
            <a:chOff x="0" y="1663700"/>
            <a:chExt cx="12192000" cy="1079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1500" y="1663700"/>
              <a:ext cx="3429000" cy="1079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" y="1663700"/>
              <a:ext cx="3416300" cy="1079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63700"/>
              <a:ext cx="12192000" cy="107950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0" y="2051050"/>
            <a:ext cx="12188825" cy="250825"/>
          </a:xfrm>
          <a:custGeom>
            <a:avLst/>
            <a:gdLst/>
            <a:ahLst/>
            <a:cxnLst/>
            <a:rect l="l" t="t" r="r" b="b"/>
            <a:pathLst>
              <a:path w="12188825" h="250825">
                <a:moveTo>
                  <a:pt x="12188821" y="250824"/>
                </a:moveTo>
                <a:lnTo>
                  <a:pt x="0" y="250824"/>
                </a:lnTo>
                <a:lnTo>
                  <a:pt x="0" y="0"/>
                </a:lnTo>
                <a:lnTo>
                  <a:pt x="12188821" y="0"/>
                </a:lnTo>
                <a:lnTo>
                  <a:pt x="12188821" y="2508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61589" y="1951037"/>
            <a:ext cx="847725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spc="110" dirty="0">
                <a:solidFill>
                  <a:srgbClr val="FFFFFF"/>
                </a:solidFill>
                <a:latin typeface="Calibri"/>
                <a:cs typeface="Calibri"/>
              </a:rPr>
              <a:t>Темен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46980" y="2009775"/>
            <a:ext cx="100520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135" dirty="0">
                <a:solidFill>
                  <a:srgbClr val="FFFFFF"/>
                </a:solidFill>
                <a:latin typeface="Calibri"/>
                <a:cs typeface="Calibri"/>
              </a:rPr>
              <a:t>OpTaLLla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32152" y="2022122"/>
            <a:ext cx="1062355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75" dirty="0">
                <a:solidFill>
                  <a:srgbClr val="FFFFFF"/>
                </a:solidFill>
                <a:latin typeface="Calibri"/>
                <a:cs typeface="Calibri"/>
              </a:rPr>
              <a:t>7ÏYOFa\зbl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2438400"/>
            <a:ext cx="12192000" cy="209550"/>
            <a:chOff x="0" y="2438400"/>
            <a:chExt cx="12192000" cy="20955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2438400"/>
              <a:ext cx="12192000" cy="2095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2438400"/>
              <a:ext cx="12192000" cy="209550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0" y="2724150"/>
            <a:ext cx="12192000" cy="209550"/>
            <a:chOff x="0" y="2724150"/>
            <a:chExt cx="12192000" cy="20955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2724150"/>
              <a:ext cx="12192000" cy="2095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2724150"/>
              <a:ext cx="12192000" cy="209550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0" y="3041650"/>
            <a:ext cx="12192000" cy="171450"/>
            <a:chOff x="0" y="3041650"/>
            <a:chExt cx="12192000" cy="17145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3041650"/>
              <a:ext cx="12192000" cy="1714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3041650"/>
              <a:ext cx="12192000" cy="171450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0" y="3898900"/>
            <a:ext cx="12188825" cy="206375"/>
          </a:xfrm>
          <a:custGeom>
            <a:avLst/>
            <a:gdLst/>
            <a:ahLst/>
            <a:cxnLst/>
            <a:rect l="l" t="t" r="r" b="b"/>
            <a:pathLst>
              <a:path w="12188825" h="206375">
                <a:moveTo>
                  <a:pt x="12188821" y="206374"/>
                </a:moveTo>
                <a:lnTo>
                  <a:pt x="0" y="206374"/>
                </a:lnTo>
                <a:lnTo>
                  <a:pt x="0" y="0"/>
                </a:lnTo>
                <a:lnTo>
                  <a:pt x="12188821" y="0"/>
                </a:lnTo>
                <a:lnTo>
                  <a:pt x="12188821" y="20637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98929" y="3804179"/>
            <a:ext cx="8225155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B5B5B5"/>
                </a:solidFill>
                <a:latin typeface="Calibri"/>
                <a:cs typeface="Calibri"/>
              </a:rPr>
              <a:t>Есептегі</a:t>
            </a:r>
            <a:r>
              <a:rPr sz="1900" spc="5" dirty="0">
                <a:solidFill>
                  <a:srgbClr val="B5B5B5"/>
                </a:solidFill>
                <a:latin typeface="Calibri"/>
                <a:cs typeface="Calibri"/>
              </a:rPr>
              <a:t> </a:t>
            </a:r>
            <a:r>
              <a:rPr sz="1900" spc="-45" dirty="0">
                <a:solidFill>
                  <a:srgbClr val="B5B5B5"/>
                </a:solidFill>
                <a:latin typeface="Calibri"/>
                <a:cs typeface="Calibri"/>
              </a:rPr>
              <a:t>факторлар:</a:t>
            </a:r>
            <a:r>
              <a:rPr sz="1900" spc="70" dirty="0">
                <a:solidFill>
                  <a:srgbClr val="B5B5B5"/>
                </a:solidFill>
                <a:latin typeface="Calibri"/>
                <a:cs typeface="Calibri"/>
              </a:rPr>
              <a:t> </a:t>
            </a:r>
            <a:r>
              <a:rPr sz="1900" spc="-35" dirty="0">
                <a:solidFill>
                  <a:srgbClr val="B5B5B5"/>
                </a:solidFill>
                <a:latin typeface="Calibri"/>
                <a:cs typeface="Calibri"/>
              </a:rPr>
              <a:t>холестерин</a:t>
            </a:r>
            <a:r>
              <a:rPr sz="1900" spc="130" dirty="0">
                <a:solidFill>
                  <a:srgbClr val="B5B5B5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5B5B5"/>
                </a:solidFill>
                <a:latin typeface="Calibri"/>
                <a:cs typeface="Calibri"/>
              </a:rPr>
              <a:t>&gt;</a:t>
            </a:r>
            <a:r>
              <a:rPr sz="1900" spc="15" dirty="0">
                <a:solidFill>
                  <a:srgbClr val="B5B5B5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5B5B5"/>
                </a:solidFill>
                <a:latin typeface="Calibri"/>
                <a:cs typeface="Calibri"/>
              </a:rPr>
              <a:t>6.2,</a:t>
            </a:r>
            <a:r>
              <a:rPr sz="1900" spc="-40" dirty="0">
                <a:solidFill>
                  <a:srgbClr val="B5B5B5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B5B5B5"/>
                </a:solidFill>
                <a:latin typeface="Calibri"/>
                <a:cs typeface="Calibri"/>
              </a:rPr>
              <a:t>глюкоза</a:t>
            </a:r>
            <a:r>
              <a:rPr sz="1900" dirty="0">
                <a:solidFill>
                  <a:srgbClr val="B5B5B5"/>
                </a:solidFill>
                <a:latin typeface="Calibri"/>
                <a:cs typeface="Calibri"/>
              </a:rPr>
              <a:t> з </a:t>
            </a:r>
            <a:r>
              <a:rPr sz="1900" spc="-65" dirty="0">
                <a:solidFill>
                  <a:srgbClr val="B5B5B5"/>
                </a:solidFill>
                <a:latin typeface="Calibri"/>
                <a:cs typeface="Calibri"/>
              </a:rPr>
              <a:t>7.0,</a:t>
            </a:r>
            <a:r>
              <a:rPr sz="1900" dirty="0">
                <a:solidFill>
                  <a:srgbClr val="B5B5B5"/>
                </a:solidFill>
                <a:latin typeface="Calibri"/>
                <a:cs typeface="Calibri"/>
              </a:rPr>
              <a:t> 50</a:t>
            </a:r>
            <a:r>
              <a:rPr sz="1900" spc="-25" dirty="0">
                <a:solidFill>
                  <a:srgbClr val="B5B5B5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B5B5B5"/>
                </a:solidFill>
                <a:latin typeface="Calibri"/>
                <a:cs typeface="Calibri"/>
              </a:rPr>
              <a:t>жастан</a:t>
            </a:r>
            <a:r>
              <a:rPr sz="1900" spc="-20" dirty="0">
                <a:solidFill>
                  <a:srgbClr val="B5B5B5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solidFill>
                  <a:srgbClr val="B5B5B5"/>
                </a:solidFill>
                <a:latin typeface="Calibri"/>
                <a:cs typeface="Calibri"/>
              </a:rPr>
              <a:t>кейін</a:t>
            </a:r>
            <a:r>
              <a:rPr sz="1900" spc="5" dirty="0">
                <a:solidFill>
                  <a:srgbClr val="B5B5B5"/>
                </a:solidFill>
                <a:latin typeface="Calibri"/>
                <a:cs typeface="Calibri"/>
              </a:rPr>
              <a:t> </a:t>
            </a:r>
            <a:r>
              <a:rPr sz="1900" spc="-35" dirty="0">
                <a:solidFill>
                  <a:srgbClr val="B5B5B5"/>
                </a:solidFill>
                <a:latin typeface="Calibri"/>
                <a:cs typeface="Calibri"/>
              </a:rPr>
              <a:t>темекі</a:t>
            </a:r>
            <a:r>
              <a:rPr sz="1900" spc="-10" dirty="0">
                <a:solidFill>
                  <a:srgbClr val="B5B5B5"/>
                </a:solidFill>
                <a:latin typeface="Calibri"/>
                <a:cs typeface="Calibri"/>
              </a:rPr>
              <a:t> шегу.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6273800"/>
            <a:ext cx="12188825" cy="155575"/>
          </a:xfrm>
          <a:custGeom>
            <a:avLst/>
            <a:gdLst/>
            <a:ahLst/>
            <a:cxnLst/>
            <a:rect l="l" t="t" r="r" b="b"/>
            <a:pathLst>
              <a:path w="12188825" h="155575">
                <a:moveTo>
                  <a:pt x="12188821" y="155574"/>
                </a:moveTo>
                <a:lnTo>
                  <a:pt x="0" y="155574"/>
                </a:lnTo>
                <a:lnTo>
                  <a:pt x="0" y="0"/>
                </a:lnTo>
                <a:lnTo>
                  <a:pt x="12188821" y="0"/>
                </a:lnTo>
                <a:lnTo>
                  <a:pt x="12188821" y="155574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03822" y="6227409"/>
            <a:ext cx="977900" cy="2108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34315" algn="l"/>
              </a:tabLst>
            </a:pPr>
            <a:r>
              <a:rPr sz="1200" spc="-50" dirty="0">
                <a:solidFill>
                  <a:srgbClr val="B5B5B5"/>
                </a:solidFill>
                <a:latin typeface="Arial"/>
                <a:cs typeface="Arial"/>
              </a:rPr>
              <a:t>6</a:t>
            </a:r>
            <a:r>
              <a:rPr sz="1200" dirty="0">
                <a:solidFill>
                  <a:srgbClr val="B5B5B5"/>
                </a:solidFill>
                <a:latin typeface="Arial"/>
                <a:cs typeface="Arial"/>
              </a:rPr>
              <a:t>	</a:t>
            </a:r>
            <a:r>
              <a:rPr sz="1200" spc="-10" dirty="0">
                <a:solidFill>
                  <a:srgbClr val="B5B5B5"/>
                </a:solidFill>
                <a:latin typeface="Arial"/>
                <a:cs typeface="Arial"/>
              </a:rPr>
              <a:t>Epeveaep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810919" y="669748"/>
            <a:ext cx="2711450" cy="685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300" spc="-370" dirty="0">
                <a:latin typeface="Arial"/>
                <a:cs typeface="Arial"/>
              </a:rPr>
              <a:t>Жоба</a:t>
            </a:r>
            <a:r>
              <a:rPr sz="4300" spc="90" dirty="0">
                <a:latin typeface="Arial"/>
                <a:cs typeface="Arial"/>
              </a:rPr>
              <a:t> </a:t>
            </a:r>
            <a:r>
              <a:rPr sz="4300" spc="-180" dirty="0">
                <a:latin typeface="Arial"/>
                <a:cs typeface="Arial"/>
              </a:rPr>
              <a:t>жолы</a:t>
            </a:r>
            <a:endParaRPr sz="43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9600" y="1663700"/>
            <a:ext cx="3371850" cy="8255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74183" y="1676612"/>
            <a:ext cx="3283585" cy="0"/>
          </a:xfrm>
          <a:custGeom>
            <a:avLst/>
            <a:gdLst/>
            <a:ahLst/>
            <a:cxnLst/>
            <a:rect l="l" t="t" r="r" b="b"/>
            <a:pathLst>
              <a:path w="3283585">
                <a:moveTo>
                  <a:pt x="0" y="0"/>
                </a:moveTo>
                <a:lnTo>
                  <a:pt x="3283372" y="0"/>
                </a:lnTo>
              </a:path>
            </a:pathLst>
          </a:custGeom>
          <a:ln w="88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054340" y="1682537"/>
            <a:ext cx="3298190" cy="0"/>
          </a:xfrm>
          <a:custGeom>
            <a:avLst/>
            <a:gdLst/>
            <a:ahLst/>
            <a:cxnLst/>
            <a:rect l="l" t="t" r="r" b="b"/>
            <a:pathLst>
              <a:path w="3298190">
                <a:moveTo>
                  <a:pt x="0" y="0"/>
                </a:moveTo>
                <a:lnTo>
                  <a:pt x="3298189" y="0"/>
                </a:lnTo>
              </a:path>
            </a:pathLst>
          </a:custGeom>
          <a:ln w="88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42898" y="1777957"/>
            <a:ext cx="2684780" cy="164973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2150" spc="-10" dirty="0">
                <a:solidFill>
                  <a:srgbClr val="1A1A1A"/>
                </a:solidFill>
                <a:latin typeface="Arial"/>
                <a:cs typeface="Arial"/>
              </a:rPr>
              <a:t>1-</a:t>
            </a:r>
            <a:r>
              <a:rPr sz="2150" dirty="0">
                <a:solidFill>
                  <a:srgbClr val="1A1A1A"/>
                </a:solidFill>
                <a:latin typeface="Arial"/>
                <a:cs typeface="Arial"/>
              </a:rPr>
              <a:t>цадам.</a:t>
            </a:r>
            <a:r>
              <a:rPr sz="2150" spc="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150" spc="-20" dirty="0">
                <a:solidFill>
                  <a:srgbClr val="1A1A1A"/>
                </a:solidFill>
                <a:latin typeface="Arial"/>
                <a:cs typeface="Arial"/>
              </a:rPr>
              <a:t>Ядро</a:t>
            </a:r>
            <a:endParaRPr sz="2150">
              <a:latin typeface="Arial"/>
              <a:cs typeface="Arial"/>
            </a:endParaRPr>
          </a:p>
          <a:p>
            <a:pPr marL="30480" marR="5080" indent="1270">
              <a:lnSpc>
                <a:spcPct val="99900"/>
              </a:lnSpc>
              <a:spcBef>
                <a:spcPts val="695"/>
              </a:spcBef>
            </a:pPr>
            <a:r>
              <a:rPr sz="1800" spc="-20" dirty="0">
                <a:solidFill>
                  <a:srgbClr val="444444"/>
                </a:solidFill>
                <a:latin typeface="Arial"/>
                <a:cs typeface="Arial"/>
              </a:rPr>
              <a:t>MedicalDiagnosisSystem </a:t>
            </a:r>
            <a:r>
              <a:rPr sz="1800" spc="-65" dirty="0">
                <a:solidFill>
                  <a:srgbClr val="444444"/>
                </a:solidFill>
                <a:latin typeface="Arial"/>
                <a:cs typeface="Arial"/>
              </a:rPr>
              <a:t>класы:</a:t>
            </a:r>
            <a:r>
              <a:rPr sz="1800" spc="-2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Arial"/>
                <a:cs typeface="Arial"/>
              </a:rPr>
              <a:t>салмацтар, </a:t>
            </a:r>
            <a:r>
              <a:rPr sz="1800" spc="-35" dirty="0">
                <a:solidFill>
                  <a:srgbClr val="444444"/>
                </a:solidFill>
                <a:latin typeface="Arial"/>
                <a:cs typeface="Arial"/>
              </a:rPr>
              <a:t>сигмоида,</a:t>
            </a:r>
            <a:r>
              <a:rPr sz="1800" spc="-4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800" spc="-65" dirty="0">
                <a:solidFill>
                  <a:srgbClr val="444444"/>
                </a:solidFill>
                <a:latin typeface="Arial"/>
                <a:cs typeface="Arial"/>
              </a:rPr>
              <a:t>ережелер</a:t>
            </a:r>
            <a:r>
              <a:rPr sz="1800" spc="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800" spc="-60" dirty="0">
                <a:solidFill>
                  <a:srgbClr val="444444"/>
                </a:solidFill>
                <a:latin typeface="Arial"/>
                <a:cs typeface="Arial"/>
              </a:rPr>
              <a:t>жане </a:t>
            </a:r>
            <a:r>
              <a:rPr sz="1800" spc="-50" dirty="0">
                <a:solidFill>
                  <a:srgbClr val="444444"/>
                </a:solidFill>
                <a:latin typeface="Arial"/>
                <a:cs typeface="Arial"/>
              </a:rPr>
              <a:t>натиже</a:t>
            </a:r>
            <a:r>
              <a:rPr sz="1800" spc="-30" dirty="0">
                <a:solidFill>
                  <a:srgbClr val="444444"/>
                </a:solidFill>
                <a:latin typeface="Arial"/>
                <a:cs typeface="Arial"/>
              </a:rPr>
              <a:t> цалыптастыру.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19811" y="1713652"/>
            <a:ext cx="0" cy="1875789"/>
          </a:xfrm>
          <a:custGeom>
            <a:avLst/>
            <a:gdLst/>
            <a:ahLst/>
            <a:cxnLst/>
            <a:rect l="l" t="t" r="r" b="b"/>
            <a:pathLst>
              <a:path h="1875789">
                <a:moveTo>
                  <a:pt x="0" y="187578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50647" y="1781885"/>
            <a:ext cx="2783840" cy="1645285"/>
          </a:xfrm>
          <a:prstGeom prst="rect">
            <a:avLst/>
          </a:prstGeom>
        </p:spPr>
        <p:txBody>
          <a:bodyPr vert="horz" wrap="square" lIns="0" tIns="1263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95"/>
              </a:spcBef>
            </a:pPr>
            <a:r>
              <a:rPr sz="2100" spc="50" dirty="0">
                <a:solidFill>
                  <a:srgbClr val="1A1A1A"/>
                </a:solidFill>
                <a:latin typeface="Arial"/>
                <a:cs typeface="Arial"/>
              </a:rPr>
              <a:t>2-</a:t>
            </a:r>
            <a:r>
              <a:rPr sz="2100" spc="60" dirty="0">
                <a:solidFill>
                  <a:srgbClr val="1A1A1A"/>
                </a:solidFill>
                <a:latin typeface="Arial"/>
                <a:cs typeface="Arial"/>
              </a:rPr>
              <a:t>цадам.</a:t>
            </a:r>
            <a:r>
              <a:rPr sz="2100" spc="-7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1A1A1A"/>
                </a:solidFill>
                <a:latin typeface="Arial"/>
                <a:cs typeface="Arial"/>
              </a:rPr>
              <a:t>Desktop</a:t>
            </a:r>
            <a:endParaRPr sz="2100">
              <a:latin typeface="Arial"/>
              <a:cs typeface="Arial"/>
            </a:endParaRPr>
          </a:p>
          <a:p>
            <a:pPr marL="12700" marR="5080" indent="-635">
              <a:lnSpc>
                <a:spcPct val="102000"/>
              </a:lnSpc>
              <a:spcBef>
                <a:spcPts val="710"/>
              </a:spcBef>
            </a:pPr>
            <a:r>
              <a:rPr sz="1750" dirty="0">
                <a:solidFill>
                  <a:srgbClr val="444444"/>
                </a:solidFill>
                <a:latin typeface="Calibri"/>
                <a:cs typeface="Calibri"/>
              </a:rPr>
              <a:t>main.ру:</a:t>
            </a:r>
            <a:r>
              <a:rPr sz="1750" spc="36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444444"/>
                </a:solidFill>
                <a:latin typeface="Calibri"/>
                <a:cs typeface="Calibri"/>
              </a:rPr>
              <a:t>енгізу</a:t>
            </a:r>
            <a:r>
              <a:rPr sz="1750" spc="33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444444"/>
                </a:solidFill>
                <a:latin typeface="Calibri"/>
                <a:cs typeface="Calibri"/>
              </a:rPr>
              <a:t>врістері</a:t>
            </a:r>
            <a:r>
              <a:rPr sz="1750" spc="39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444444"/>
                </a:solidFill>
                <a:latin typeface="Calibri"/>
                <a:cs typeface="Calibri"/>
              </a:rPr>
              <a:t>мен </a:t>
            </a:r>
            <a:r>
              <a:rPr sz="1750" dirty="0">
                <a:solidFill>
                  <a:srgbClr val="444444"/>
                </a:solidFill>
                <a:latin typeface="Calibri"/>
                <a:cs typeface="Calibri"/>
              </a:rPr>
              <a:t>есептеу</a:t>
            </a:r>
            <a:r>
              <a:rPr sz="1750" spc="49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444444"/>
                </a:solidFill>
                <a:latin typeface="Calibri"/>
                <a:cs typeface="Calibri"/>
              </a:rPr>
              <a:t>батырмасы</a:t>
            </a:r>
            <a:r>
              <a:rPr sz="1750" spc="80" dirty="0">
                <a:solidFill>
                  <a:srgbClr val="444444"/>
                </a:solidFill>
                <a:latin typeface="Calibri"/>
                <a:cs typeface="Calibri"/>
              </a:rPr>
              <a:t>  </a:t>
            </a:r>
            <a:r>
              <a:rPr sz="1750" spc="-25" dirty="0">
                <a:solidFill>
                  <a:srgbClr val="444444"/>
                </a:solidFill>
                <a:latin typeface="Calibri"/>
                <a:cs typeface="Calibri"/>
              </a:rPr>
              <a:t>бар </a:t>
            </a:r>
            <a:r>
              <a:rPr sz="1750" dirty="0">
                <a:solidFill>
                  <a:srgbClr val="444444"/>
                </a:solidFill>
                <a:latin typeface="Calibri"/>
                <a:cs typeface="Calibri"/>
              </a:rPr>
              <a:t>Tkinter</a:t>
            </a:r>
            <a:r>
              <a:rPr sz="1750" spc="31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444444"/>
                </a:solidFill>
                <a:latin typeface="Calibri"/>
                <a:cs typeface="Calibri"/>
              </a:rPr>
              <a:t>терезесі.</a:t>
            </a:r>
            <a:r>
              <a:rPr sz="1750" spc="34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444444"/>
                </a:solidFill>
                <a:latin typeface="Calibri"/>
                <a:cs typeface="Calibri"/>
              </a:rPr>
              <a:t>Іске</a:t>
            </a:r>
            <a:r>
              <a:rPr sz="1750" spc="26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50" spc="-20" dirty="0">
                <a:solidFill>
                  <a:srgbClr val="444444"/>
                </a:solidFill>
                <a:latin typeface="Calibri"/>
                <a:cs typeface="Calibri"/>
              </a:rPr>
              <a:t>цосу </a:t>
            </a:r>
            <a:r>
              <a:rPr sz="1800" dirty="0">
                <a:solidFill>
                  <a:srgbClr val="444444"/>
                </a:solidFill>
                <a:latin typeface="Calibri"/>
                <a:cs typeface="Calibri"/>
              </a:rPr>
              <a:t>жазылган</a:t>
            </a:r>
            <a:r>
              <a:rPr sz="1800" spc="12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Calibri"/>
                <a:cs typeface="Calibri"/>
              </a:rPr>
              <a:t>README.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92085" y="1734397"/>
            <a:ext cx="0" cy="1861185"/>
          </a:xfrm>
          <a:custGeom>
            <a:avLst/>
            <a:gdLst/>
            <a:ahLst/>
            <a:cxnLst/>
            <a:rect l="l" t="t" r="r" b="b"/>
            <a:pathLst>
              <a:path h="1861185">
                <a:moveTo>
                  <a:pt x="0" y="1860972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238388" y="1792163"/>
            <a:ext cx="2526665" cy="135636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910"/>
              </a:spcBef>
            </a:pPr>
            <a:r>
              <a:rPr sz="2100" spc="50" dirty="0">
                <a:solidFill>
                  <a:srgbClr val="1A1A1A"/>
                </a:solidFill>
                <a:latin typeface="Arial"/>
                <a:cs typeface="Arial"/>
              </a:rPr>
              <a:t>3-</a:t>
            </a:r>
            <a:r>
              <a:rPr sz="2100" spc="60" dirty="0">
                <a:solidFill>
                  <a:srgbClr val="1A1A1A"/>
                </a:solidFill>
                <a:latin typeface="Arial"/>
                <a:cs typeface="Arial"/>
              </a:rPr>
              <a:t>цадам.</a:t>
            </a:r>
            <a:r>
              <a:rPr sz="2100" spc="65" dirty="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1A1A1A"/>
                </a:solidFill>
                <a:latin typeface="Arial"/>
                <a:cs typeface="Arial"/>
              </a:rPr>
              <a:t>Web</a:t>
            </a:r>
            <a:endParaRPr sz="2100">
              <a:latin typeface="Arial"/>
              <a:cs typeface="Arial"/>
            </a:endParaRPr>
          </a:p>
          <a:p>
            <a:pPr marL="12700" marR="5080" indent="-635">
              <a:lnSpc>
                <a:spcPct val="101899"/>
              </a:lnSpc>
              <a:spcBef>
                <a:spcPts val="665"/>
              </a:spcBef>
            </a:pPr>
            <a:r>
              <a:rPr sz="1800" dirty="0">
                <a:solidFill>
                  <a:srgbClr val="444444"/>
                </a:solidFill>
                <a:latin typeface="Calibri"/>
                <a:cs typeface="Calibri"/>
              </a:rPr>
              <a:t>app.ру:</a:t>
            </a:r>
            <a:r>
              <a:rPr sz="1800" spc="13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4444"/>
                </a:solidFill>
                <a:latin typeface="Calibri"/>
                <a:cs typeface="Calibri"/>
              </a:rPr>
              <a:t>натиже</a:t>
            </a:r>
            <a:r>
              <a:rPr sz="1800" spc="22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44444"/>
                </a:solidFill>
                <a:latin typeface="Calibri"/>
                <a:cs typeface="Calibri"/>
              </a:rPr>
              <a:t>блоктары </a:t>
            </a:r>
            <a:r>
              <a:rPr sz="1800" dirty="0">
                <a:solidFill>
                  <a:srgbClr val="444444"/>
                </a:solidFill>
                <a:latin typeface="Calibri"/>
                <a:cs typeface="Calibri"/>
              </a:rPr>
              <a:t>турлі-тусті</a:t>
            </a:r>
            <a:r>
              <a:rPr sz="1800" spc="95" dirty="0">
                <a:solidFill>
                  <a:srgbClr val="444444"/>
                </a:solidFill>
                <a:latin typeface="Calibri"/>
                <a:cs typeface="Calibri"/>
              </a:rPr>
              <a:t>  </a:t>
            </a:r>
            <a:r>
              <a:rPr sz="1800" spc="-10" dirty="0">
                <a:solidFill>
                  <a:srgbClr val="444444"/>
                </a:solidFill>
                <a:latin typeface="Calibri"/>
                <a:cs typeface="Calibri"/>
              </a:rPr>
              <a:t>Streamlit </a:t>
            </a:r>
            <a:r>
              <a:rPr sz="1700" spc="-10" dirty="0">
                <a:solidFill>
                  <a:srgbClr val="444444"/>
                </a:solidFill>
                <a:latin typeface="Calibri"/>
                <a:cs typeface="Calibri"/>
              </a:rPr>
              <a:t>интерфейсі.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1350" y="3606800"/>
            <a:ext cx="3340100" cy="9525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18633" y="3676862"/>
            <a:ext cx="3239135" cy="0"/>
          </a:xfrm>
          <a:custGeom>
            <a:avLst/>
            <a:gdLst/>
            <a:ahLst/>
            <a:cxnLst/>
            <a:rect l="l" t="t" r="r" b="b"/>
            <a:pathLst>
              <a:path w="3239135">
                <a:moveTo>
                  <a:pt x="0" y="0"/>
                </a:moveTo>
                <a:lnTo>
                  <a:pt x="3238922" y="0"/>
                </a:lnTo>
              </a:path>
            </a:pathLst>
          </a:custGeom>
          <a:ln w="88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095826" y="3676862"/>
            <a:ext cx="3239135" cy="0"/>
          </a:xfrm>
          <a:custGeom>
            <a:avLst/>
            <a:gdLst/>
            <a:ahLst/>
            <a:cxnLst/>
            <a:rect l="l" t="t" r="r" b="b"/>
            <a:pathLst>
              <a:path w="3239134">
                <a:moveTo>
                  <a:pt x="0" y="0"/>
                </a:moveTo>
                <a:lnTo>
                  <a:pt x="3238922" y="0"/>
                </a:lnTo>
              </a:path>
            </a:pathLst>
          </a:custGeom>
          <a:ln w="88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1730" y="6215062"/>
            <a:ext cx="751205" cy="225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36220" algn="l"/>
              </a:tabLst>
            </a:pPr>
            <a:r>
              <a:rPr sz="1300" spc="-50" dirty="0">
                <a:solidFill>
                  <a:srgbClr val="696969"/>
                </a:solidFill>
                <a:latin typeface="Arial"/>
                <a:cs typeface="Arial"/>
              </a:rPr>
              <a:t>7</a:t>
            </a:r>
            <a:r>
              <a:rPr sz="1300" dirty="0">
                <a:solidFill>
                  <a:srgbClr val="696969"/>
                </a:solidFill>
                <a:latin typeface="Arial"/>
                <a:cs typeface="Arial"/>
              </a:rPr>
              <a:t>	</a:t>
            </a:r>
            <a:r>
              <a:rPr sz="1300" spc="-25" dirty="0">
                <a:solidFill>
                  <a:srgbClr val="696969"/>
                </a:solidFill>
                <a:latin typeface="Arial"/>
                <a:cs typeface="Arial"/>
              </a:rPr>
              <a:t>Дамуы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646" rIns="0" bIns="0" rtlCol="0">
            <a:spAutoFit/>
          </a:bodyPr>
          <a:lstStyle/>
          <a:p>
            <a:pPr marL="7620">
              <a:lnSpc>
                <a:spcPct val="100000"/>
              </a:lnSpc>
              <a:spcBef>
                <a:spcPts val="90"/>
              </a:spcBef>
            </a:pPr>
            <a:r>
              <a:rPr sz="3850" spc="130" dirty="0">
                <a:latin typeface="Arial"/>
                <a:cs typeface="Arial"/>
              </a:rPr>
              <a:t>Icкe</a:t>
            </a:r>
            <a:r>
              <a:rPr sz="3850" spc="-90" dirty="0">
                <a:latin typeface="Arial"/>
                <a:cs typeface="Arial"/>
              </a:rPr>
              <a:t> </a:t>
            </a:r>
            <a:r>
              <a:rPr sz="3850" spc="-20" dirty="0">
                <a:latin typeface="Arial"/>
                <a:cs typeface="Arial"/>
              </a:rPr>
              <a:t>gocy</a:t>
            </a:r>
            <a:endParaRPr sz="38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651" y="1759484"/>
            <a:ext cx="4637405" cy="1389380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170"/>
              </a:spcBef>
              <a:tabLst>
                <a:tab pos="1116330" algn="l"/>
              </a:tabLst>
            </a:pPr>
            <a:r>
              <a:rPr sz="2100" spc="45" dirty="0">
                <a:solidFill>
                  <a:srgbClr val="1A1A1A"/>
                </a:solidFill>
                <a:latin typeface="Arial"/>
                <a:cs typeface="Arial"/>
              </a:rPr>
              <a:t>Tkinter</a:t>
            </a:r>
            <a:r>
              <a:rPr sz="2100" dirty="0">
                <a:solidFill>
                  <a:srgbClr val="1A1A1A"/>
                </a:solidFill>
                <a:latin typeface="Arial"/>
                <a:cs typeface="Arial"/>
              </a:rPr>
              <a:t>	</a:t>
            </a:r>
            <a:r>
              <a:rPr sz="2100" spc="-10" dirty="0">
                <a:solidFill>
                  <a:srgbClr val="1A1A1A"/>
                </a:solidFill>
                <a:latin typeface="Arial"/>
                <a:cs typeface="Arial"/>
              </a:rPr>
              <a:t>ycgacui</a:t>
            </a:r>
            <a:endParaRPr sz="2100">
              <a:latin typeface="Arial"/>
              <a:cs typeface="Arial"/>
            </a:endParaRPr>
          </a:p>
          <a:p>
            <a:pPr marL="12700" marR="5080" indent="5080">
              <a:lnSpc>
                <a:spcPct val="104800"/>
              </a:lnSpc>
              <a:spcBef>
                <a:spcPts val="730"/>
              </a:spcBef>
            </a:pPr>
            <a:r>
              <a:rPr sz="1700" dirty="0">
                <a:solidFill>
                  <a:srgbClr val="444444"/>
                </a:solidFill>
                <a:latin typeface="Arial"/>
                <a:cs typeface="Arial"/>
              </a:rPr>
              <a:t>pip</a:t>
            </a:r>
            <a:r>
              <a:rPr sz="1700" spc="-9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44444"/>
                </a:solidFill>
                <a:latin typeface="Arial"/>
                <a:cs typeface="Arial"/>
              </a:rPr>
              <a:t>install</a:t>
            </a:r>
            <a:r>
              <a:rPr sz="1700" spc="-3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444444"/>
                </a:solidFill>
                <a:latin typeface="Arial"/>
                <a:cs typeface="Arial"/>
              </a:rPr>
              <a:t>numpy,</a:t>
            </a:r>
            <a:r>
              <a:rPr sz="1700" spc="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700" spc="-45" dirty="0">
                <a:solidFill>
                  <a:srgbClr val="444444"/>
                </a:solidFill>
                <a:latin typeface="Arial"/>
                <a:cs typeface="Arial"/>
              </a:rPr>
              <a:t>copaH</a:t>
            </a:r>
            <a:r>
              <a:rPr sz="1700" spc="5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700" spc="-95" dirty="0">
                <a:solidFill>
                  <a:srgbClr val="444444"/>
                </a:solidFill>
                <a:latin typeface="Arial"/>
                <a:cs typeface="Arial"/>
              </a:rPr>
              <a:t>xeñiH</a:t>
            </a:r>
            <a:r>
              <a:rPr sz="1700" spc="-1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44444"/>
                </a:solidFill>
                <a:latin typeface="Arial"/>
                <a:cs typeface="Arial"/>
              </a:rPr>
              <a:t>python</a:t>
            </a:r>
            <a:r>
              <a:rPr sz="1700" spc="-5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444444"/>
                </a:solidFill>
                <a:latin typeface="Arial"/>
                <a:cs typeface="Arial"/>
              </a:rPr>
              <a:t>main.py. </a:t>
            </a:r>
            <a:r>
              <a:rPr sz="1700" spc="-65" dirty="0">
                <a:solidFill>
                  <a:srgbClr val="444444"/>
                </a:solidFill>
                <a:latin typeface="Arial"/>
                <a:cs typeface="Arial"/>
              </a:rPr>
              <a:t>Linux-</a:t>
            </a:r>
            <a:r>
              <a:rPr sz="1700" dirty="0">
                <a:solidFill>
                  <a:srgbClr val="444444"/>
                </a:solidFill>
                <a:latin typeface="Arial"/>
                <a:cs typeface="Arial"/>
              </a:rPr>
              <a:t>Ta</a:t>
            </a:r>
            <a:r>
              <a:rPr sz="1700" spc="-2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700" spc="-165" dirty="0">
                <a:solidFill>
                  <a:srgbClr val="444444"/>
                </a:solidFill>
                <a:latin typeface="Arial"/>
                <a:cs typeface="Arial"/>
              </a:rPr>
              <a:t>Ęa3‹eT</a:t>
            </a:r>
            <a:r>
              <a:rPr sz="1700" spc="4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44444"/>
                </a:solidFill>
                <a:latin typeface="Arial"/>
                <a:cs typeface="Arial"/>
              </a:rPr>
              <a:t>6onca:</a:t>
            </a:r>
            <a:r>
              <a:rPr sz="1700" spc="-4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44444"/>
                </a:solidFill>
                <a:latin typeface="Arial"/>
                <a:cs typeface="Arial"/>
              </a:rPr>
              <a:t>sudo</a:t>
            </a:r>
            <a:r>
              <a:rPr sz="1700" spc="-2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44444"/>
                </a:solidFill>
                <a:latin typeface="Arial"/>
                <a:cs typeface="Arial"/>
              </a:rPr>
              <a:t>apt</a:t>
            </a:r>
            <a:r>
              <a:rPr sz="1700" spc="-6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44444"/>
                </a:solidFill>
                <a:latin typeface="Arial"/>
                <a:cs typeface="Arial"/>
              </a:rPr>
              <a:t>install</a:t>
            </a:r>
            <a:r>
              <a:rPr sz="1700" spc="-3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444444"/>
                </a:solidFill>
                <a:latin typeface="Arial"/>
                <a:cs typeface="Arial"/>
              </a:rPr>
              <a:t>python3-</a:t>
            </a:r>
            <a:r>
              <a:rPr sz="1700" spc="-25" dirty="0">
                <a:solidFill>
                  <a:srgbClr val="444444"/>
                </a:solidFill>
                <a:latin typeface="Arial"/>
                <a:cs typeface="Arial"/>
              </a:rPr>
              <a:t>tk.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2573" y="1770670"/>
            <a:ext cx="4672330" cy="110680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  <a:tabLst>
                <a:tab pos="1347470" algn="l"/>
              </a:tabLst>
            </a:pPr>
            <a:r>
              <a:rPr sz="2100" spc="-10" dirty="0">
                <a:solidFill>
                  <a:srgbClr val="1A1A1A"/>
                </a:solidFill>
                <a:latin typeface="Arial"/>
                <a:cs typeface="Arial"/>
              </a:rPr>
              <a:t>Streamlit</a:t>
            </a:r>
            <a:r>
              <a:rPr sz="2100" dirty="0">
                <a:solidFill>
                  <a:srgbClr val="1A1A1A"/>
                </a:solidFill>
                <a:latin typeface="Arial"/>
                <a:cs typeface="Arial"/>
              </a:rPr>
              <a:t>	</a:t>
            </a:r>
            <a:r>
              <a:rPr sz="2100" spc="-10" dirty="0">
                <a:solidFill>
                  <a:srgbClr val="1A1A1A"/>
                </a:solidFill>
                <a:latin typeface="Arial"/>
                <a:cs typeface="Arial"/>
              </a:rPr>
              <a:t>ycgacui</a:t>
            </a:r>
            <a:endParaRPr sz="21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780"/>
              </a:spcBef>
            </a:pPr>
            <a:r>
              <a:rPr sz="1750" dirty="0">
                <a:solidFill>
                  <a:srgbClr val="444444"/>
                </a:solidFill>
                <a:latin typeface="Calibri"/>
                <a:cs typeface="Calibri"/>
              </a:rPr>
              <a:t>pip</a:t>
            </a:r>
            <a:r>
              <a:rPr sz="1750" spc="6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444444"/>
                </a:solidFill>
                <a:latin typeface="Calibri"/>
                <a:cs typeface="Calibri"/>
              </a:rPr>
              <a:t>install</a:t>
            </a:r>
            <a:r>
              <a:rPr sz="1750" spc="16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444444"/>
                </a:solidFill>
                <a:latin typeface="Calibri"/>
                <a:cs typeface="Calibri"/>
              </a:rPr>
              <a:t>streamlit</a:t>
            </a:r>
            <a:r>
              <a:rPr sz="1750" spc="15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444444"/>
                </a:solidFill>
                <a:latin typeface="Calibri"/>
                <a:cs typeface="Calibri"/>
              </a:rPr>
              <a:t>numpy,</a:t>
            </a:r>
            <a:r>
              <a:rPr sz="1750" spc="14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50" dirty="0">
                <a:solidFill>
                  <a:srgbClr val="444444"/>
                </a:solidFill>
                <a:latin typeface="Calibri"/>
                <a:cs typeface="Calibri"/>
              </a:rPr>
              <a:t>cogaH</a:t>
            </a:r>
            <a:r>
              <a:rPr sz="1750" spc="12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444444"/>
                </a:solidFill>
                <a:latin typeface="Calibri"/>
                <a:cs typeface="Calibri"/>
              </a:rPr>
              <a:t>кeйiH</a:t>
            </a:r>
            <a:r>
              <a:rPr sz="1750" spc="114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750" spc="-10" dirty="0">
                <a:solidFill>
                  <a:srgbClr val="444444"/>
                </a:solidFill>
                <a:latin typeface="Calibri"/>
                <a:cs typeface="Calibri"/>
              </a:rPr>
              <a:t>streamlit</a:t>
            </a:r>
            <a:endParaRPr sz="1750">
              <a:latin typeface="Calibri"/>
              <a:cs typeface="Calibri"/>
            </a:endParaRPr>
          </a:p>
          <a:p>
            <a:pPr marL="15240">
              <a:lnSpc>
                <a:spcPct val="100000"/>
              </a:lnSpc>
              <a:spcBef>
                <a:spcPts val="150"/>
              </a:spcBef>
            </a:pPr>
            <a:r>
              <a:rPr sz="1650" spc="50" dirty="0">
                <a:solidFill>
                  <a:srgbClr val="444444"/>
                </a:solidFill>
                <a:latin typeface="Calibri"/>
                <a:cs typeface="Calibri"/>
              </a:rPr>
              <a:t>run</a:t>
            </a:r>
            <a:r>
              <a:rPr sz="1650" spc="8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650" spc="65" dirty="0">
                <a:solidFill>
                  <a:srgbClr val="444444"/>
                </a:solidFill>
                <a:latin typeface="Calibri"/>
                <a:cs typeface="Calibri"/>
              </a:rPr>
              <a:t>app.py.</a:t>
            </a:r>
            <a:r>
              <a:rPr sz="1650" spc="22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650" spc="50" dirty="0">
                <a:solidFill>
                  <a:srgbClr val="444444"/>
                </a:solidFill>
                <a:latin typeface="Calibri"/>
                <a:cs typeface="Calibri"/>
              </a:rPr>
              <a:t>6eT</a:t>
            </a:r>
            <a:r>
              <a:rPr sz="1650" spc="12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650" spc="70" dirty="0">
                <a:solidFill>
                  <a:srgbClr val="444444"/>
                </a:solidFill>
                <a:latin typeface="Calibri"/>
                <a:cs typeface="Calibri"/>
              </a:rPr>
              <a:t>6pay3eppe</a:t>
            </a:r>
            <a:r>
              <a:rPr sz="1650" spc="21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444444"/>
                </a:solidFill>
                <a:latin typeface="Calibri"/>
                <a:cs typeface="Calibri"/>
              </a:rPr>
              <a:t>aшbIfIa,D,bI.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3619" y="6233583"/>
            <a:ext cx="923925" cy="2032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33045" algn="l"/>
              </a:tabLst>
            </a:pPr>
            <a:r>
              <a:rPr sz="1150" dirty="0">
                <a:solidFill>
                  <a:srgbClr val="696969"/>
                </a:solidFill>
                <a:latin typeface="Arial"/>
                <a:cs typeface="Arial"/>
              </a:rPr>
              <a:t>8	Icue</a:t>
            </a:r>
            <a:r>
              <a:rPr sz="1150" spc="19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150" spc="-20" dirty="0">
                <a:solidFill>
                  <a:srgbClr val="696969"/>
                </a:solidFill>
                <a:latin typeface="Arial"/>
                <a:cs typeface="Arial"/>
              </a:rPr>
              <a:t>gocy</a:t>
            </a:r>
            <a:endParaRPr sz="11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9377" y="6233583"/>
            <a:ext cx="2867025" cy="2032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dirty="0">
                <a:solidFill>
                  <a:srgbClr val="696969"/>
                </a:solidFill>
                <a:latin typeface="Arial"/>
                <a:cs typeface="Arial"/>
              </a:rPr>
              <a:t>README</a:t>
            </a:r>
            <a:r>
              <a:rPr sz="1150" spc="13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696969"/>
                </a:solidFill>
                <a:latin typeface="Arial"/>
                <a:cs typeface="Arial"/>
              </a:rPr>
              <a:t>Ęa3ip</a:t>
            </a:r>
            <a:r>
              <a:rPr sz="1150" spc="9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696969"/>
                </a:solidFill>
                <a:latin typeface="Arial"/>
                <a:cs typeface="Arial"/>
              </a:rPr>
              <a:t>Ten</a:t>
            </a:r>
            <a:r>
              <a:rPr sz="1150" spc="35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696969"/>
                </a:solidFill>
                <a:latin typeface="Arial"/>
                <a:cs typeface="Arial"/>
              </a:rPr>
              <a:t>main.py</a:t>
            </a:r>
            <a:r>
              <a:rPr sz="1150" spc="140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150" spc="-60" dirty="0">
                <a:solidFill>
                  <a:srgbClr val="696969"/>
                </a:solidFill>
                <a:latin typeface="Arial"/>
                <a:cs typeface="Arial"/>
              </a:rPr>
              <a:t>cunaTTaŃ,0,bI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30"/>
              </a:spcBef>
            </a:pPr>
            <a:r>
              <a:rPr spc="45" dirty="0"/>
              <a:t>Интерфейстер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7770" y="1623307"/>
            <a:ext cx="193103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45" dirty="0">
                <a:solidFill>
                  <a:srgbClr val="1A1A1A"/>
                </a:solidFill>
                <a:latin typeface="Calibri"/>
                <a:cs typeface="Calibri"/>
              </a:rPr>
              <a:t>Tkinter</a:t>
            </a:r>
            <a:r>
              <a:rPr sz="2000" spc="10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000" spc="40" dirty="0">
                <a:solidFill>
                  <a:srgbClr val="1A1A1A"/>
                </a:solidFill>
                <a:latin typeface="Calibri"/>
                <a:cs typeface="Calibri"/>
              </a:rPr>
              <a:t>(main.ру)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5434" y="1617133"/>
            <a:ext cx="2015489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dirty="0">
                <a:solidFill>
                  <a:srgbClr val="1A1A1A"/>
                </a:solidFill>
                <a:latin typeface="Calibri"/>
                <a:cs typeface="Calibri"/>
              </a:rPr>
              <a:t>Streamlit</a:t>
            </a:r>
            <a:r>
              <a:rPr sz="2050" spc="2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2050" spc="-10" dirty="0">
                <a:solidFill>
                  <a:srgbClr val="1A1A1A"/>
                </a:solidFill>
                <a:latin typeface="Calibri"/>
                <a:cs typeface="Calibri"/>
              </a:rPr>
              <a:t>(app.ру)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53947" y="3527601"/>
            <a:ext cx="287591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65" dirty="0">
                <a:solidFill>
                  <a:srgbClr val="696969"/>
                </a:solidFill>
                <a:latin typeface="Arial"/>
                <a:cs typeface="Arial"/>
              </a:rPr>
              <a:t>Скриншот</a:t>
            </a:r>
            <a:r>
              <a:rPr sz="1800" spc="-50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696969"/>
                </a:solidFill>
                <a:latin typeface="Arial"/>
                <a:cs typeface="Arial"/>
              </a:rPr>
              <a:t>осында</a:t>
            </a:r>
            <a:r>
              <a:rPr sz="1800" spc="-20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696969"/>
                </a:solidFill>
                <a:latin typeface="Arial"/>
                <a:cs typeface="Arial"/>
              </a:rPr>
              <a:t>цойылады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38747" y="3527601"/>
            <a:ext cx="287591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65" dirty="0">
                <a:solidFill>
                  <a:srgbClr val="696969"/>
                </a:solidFill>
                <a:latin typeface="Arial"/>
                <a:cs typeface="Arial"/>
              </a:rPr>
              <a:t>Скриншот</a:t>
            </a:r>
            <a:r>
              <a:rPr sz="1800" spc="-50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696969"/>
                </a:solidFill>
                <a:latin typeface="Arial"/>
                <a:cs typeface="Arial"/>
              </a:rPr>
              <a:t>осында</a:t>
            </a:r>
            <a:r>
              <a:rPr sz="1800" spc="-20" dirty="0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696969"/>
                </a:solidFill>
                <a:latin typeface="Arial"/>
                <a:cs typeface="Arial"/>
              </a:rPr>
              <a:t>цойылады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3444" y="6227409"/>
            <a:ext cx="1240790" cy="2108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36854" algn="l"/>
              </a:tabLst>
            </a:pPr>
            <a:r>
              <a:rPr sz="1200" spc="-50" dirty="0">
                <a:solidFill>
                  <a:srgbClr val="696969"/>
                </a:solidFill>
                <a:latin typeface="Calibri"/>
                <a:cs typeface="Calibri"/>
              </a:rPr>
              <a:t>9</a:t>
            </a:r>
            <a:r>
              <a:rPr sz="1200" dirty="0">
                <a:solidFill>
                  <a:srgbClr val="696969"/>
                </a:solidFill>
                <a:latin typeface="Calibri"/>
                <a:cs typeface="Calibri"/>
              </a:rPr>
              <a:t>	</a:t>
            </a:r>
            <a:r>
              <a:rPr sz="1200" spc="75" dirty="0">
                <a:solidFill>
                  <a:srgbClr val="696969"/>
                </a:solidFill>
                <a:latin typeface="Calibri"/>
                <a:cs typeface="Calibri"/>
              </a:rPr>
              <a:t>Скринwоттар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124" y="1866370"/>
            <a:ext cx="8585200" cy="403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50" dirty="0">
                <a:solidFill>
                  <a:srgbClr val="1D1D1D"/>
                </a:solidFill>
                <a:latin typeface="Arial"/>
                <a:cs typeface="Arial"/>
              </a:rPr>
              <a:t>Бдепкі</a:t>
            </a:r>
            <a:r>
              <a:rPr sz="2450" spc="-140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450" spc="-235" dirty="0">
                <a:solidFill>
                  <a:srgbClr val="1D1D1D"/>
                </a:solidFill>
                <a:latin typeface="Arial"/>
                <a:cs typeface="Arial"/>
              </a:rPr>
              <a:t>мы</a:t>
            </a:r>
            <a:r>
              <a:rPr sz="2450" spc="-215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450" spc="-30" dirty="0">
                <a:solidFill>
                  <a:srgbClr val="1D1D1D"/>
                </a:solidFill>
                <a:latin typeface="Arial"/>
                <a:cs typeface="Arial"/>
              </a:rPr>
              <a:t>сал:</a:t>
            </a:r>
            <a:r>
              <a:rPr sz="2450" spc="-65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450" dirty="0">
                <a:solidFill>
                  <a:srgbClr val="1D1D1D"/>
                </a:solidFill>
                <a:latin typeface="Arial"/>
                <a:cs typeface="Arial"/>
              </a:rPr>
              <a:t>56</a:t>
            </a:r>
            <a:r>
              <a:rPr sz="2450" spc="-45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450" dirty="0">
                <a:solidFill>
                  <a:srgbClr val="1D1D1D"/>
                </a:solidFill>
                <a:latin typeface="Arial"/>
                <a:cs typeface="Arial"/>
              </a:rPr>
              <a:t>жас,</a:t>
            </a:r>
            <a:r>
              <a:rPr sz="2450" spc="-90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450" spc="-165" dirty="0">
                <a:solidFill>
                  <a:srgbClr val="1D1D1D"/>
                </a:solidFill>
                <a:latin typeface="Arial"/>
                <a:cs typeface="Arial"/>
              </a:rPr>
              <a:t>АЦ</a:t>
            </a:r>
            <a:r>
              <a:rPr sz="2450" spc="-305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450" spc="-70" dirty="0">
                <a:solidFill>
                  <a:srgbClr val="1D1D1D"/>
                </a:solidFill>
                <a:latin typeface="Arial"/>
                <a:cs typeface="Arial"/>
              </a:rPr>
              <a:t>145,</a:t>
            </a:r>
            <a:r>
              <a:rPr sz="2450" spc="-80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450" spc="-50" dirty="0">
                <a:solidFill>
                  <a:srgbClr val="1D1D1D"/>
                </a:solidFill>
                <a:latin typeface="Arial"/>
                <a:cs typeface="Arial"/>
              </a:rPr>
              <a:t>холестерин</a:t>
            </a:r>
            <a:r>
              <a:rPr sz="2450" spc="140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450" spc="-40" dirty="0">
                <a:solidFill>
                  <a:srgbClr val="1D1D1D"/>
                </a:solidFill>
                <a:latin typeface="Arial"/>
                <a:cs typeface="Arial"/>
              </a:rPr>
              <a:t>6.8,</a:t>
            </a:r>
            <a:r>
              <a:rPr sz="2450" spc="-130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450" dirty="0">
                <a:solidFill>
                  <a:srgbClr val="1D1D1D"/>
                </a:solidFill>
                <a:latin typeface="Arial"/>
                <a:cs typeface="Arial"/>
              </a:rPr>
              <a:t>темекі</a:t>
            </a:r>
            <a:r>
              <a:rPr sz="2450" spc="-85" dirty="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sz="2450" spc="-10" dirty="0">
                <a:solidFill>
                  <a:srgbClr val="1D1D1D"/>
                </a:solidFill>
                <a:latin typeface="Arial"/>
                <a:cs typeface="Arial"/>
              </a:rPr>
              <a:t>шегеді</a:t>
            </a:r>
            <a:endParaRPr sz="24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2293" y="4352395"/>
            <a:ext cx="10089515" cy="403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50" dirty="0">
                <a:solidFill>
                  <a:srgbClr val="1D1D1D"/>
                </a:solidFill>
                <a:latin typeface="Calibri"/>
                <a:cs typeface="Calibri"/>
              </a:rPr>
              <a:t>z</a:t>
            </a:r>
            <a:r>
              <a:rPr sz="2450" spc="31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450" spc="120" dirty="0">
                <a:solidFill>
                  <a:srgbClr val="1D1D1D"/>
                </a:solidFill>
                <a:latin typeface="Calibri"/>
                <a:cs typeface="Calibri"/>
              </a:rPr>
              <a:t>=</a:t>
            </a:r>
            <a:r>
              <a:rPr sz="2450" spc="5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D1D1D"/>
                </a:solidFill>
                <a:latin typeface="Calibri"/>
                <a:cs typeface="Calibri"/>
              </a:rPr>
              <a:t>2.69,</a:t>
            </a:r>
            <a:r>
              <a:rPr sz="2450" spc="21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D1D1D"/>
                </a:solidFill>
                <a:latin typeface="Calibri"/>
                <a:cs typeface="Calibri"/>
              </a:rPr>
              <a:t>жогары</a:t>
            </a:r>
            <a:r>
              <a:rPr sz="2450" spc="229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D1D1D"/>
                </a:solidFill>
                <a:latin typeface="Calibri"/>
                <a:cs typeface="Calibri"/>
              </a:rPr>
              <a:t>цауіп.</a:t>
            </a:r>
            <a:r>
              <a:rPr sz="2450" spc="18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450" spc="60" dirty="0">
                <a:solidFill>
                  <a:srgbClr val="1D1D1D"/>
                </a:solidFill>
                <a:latin typeface="Calibri"/>
                <a:cs typeface="Calibri"/>
              </a:rPr>
              <a:t>Екі</a:t>
            </a:r>
            <a:r>
              <a:rPr sz="2450" spc="6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D1D1D"/>
                </a:solidFill>
                <a:latin typeface="Calibri"/>
                <a:cs typeface="Calibri"/>
              </a:rPr>
              <a:t>нусца</a:t>
            </a:r>
            <a:r>
              <a:rPr sz="2450" spc="254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D1D1D"/>
                </a:solidFill>
                <a:latin typeface="Calibri"/>
                <a:cs typeface="Calibri"/>
              </a:rPr>
              <a:t>да</a:t>
            </a:r>
            <a:r>
              <a:rPr sz="2450" spc="10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D1D1D"/>
                </a:solidFill>
                <a:latin typeface="Calibri"/>
                <a:cs typeface="Calibri"/>
              </a:rPr>
              <a:t>жумыс</a:t>
            </a:r>
            <a:r>
              <a:rPr sz="2450" spc="28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D1D1D"/>
                </a:solidFill>
                <a:latin typeface="Calibri"/>
                <a:cs typeface="Calibri"/>
              </a:rPr>
              <a:t>істейді:</a:t>
            </a:r>
            <a:r>
              <a:rPr sz="2450" spc="37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D1D1D"/>
                </a:solidFill>
                <a:latin typeface="Calibri"/>
                <a:cs typeface="Calibri"/>
              </a:rPr>
              <a:t>Tkinter</a:t>
            </a:r>
            <a:r>
              <a:rPr sz="2450" spc="25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D1D1D"/>
                </a:solidFill>
                <a:latin typeface="Calibri"/>
                <a:cs typeface="Calibri"/>
              </a:rPr>
              <a:t>жане</a:t>
            </a:r>
            <a:r>
              <a:rPr sz="2450" spc="24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1D1D1D"/>
                </a:solidFill>
                <a:latin typeface="Calibri"/>
                <a:cs typeface="Calibri"/>
              </a:rPr>
              <a:t>Streamlit.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8299" y="6215062"/>
            <a:ext cx="715010" cy="225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12420" algn="l"/>
              </a:tabLst>
            </a:pPr>
            <a:r>
              <a:rPr sz="1300" spc="-25" dirty="0">
                <a:solidFill>
                  <a:srgbClr val="1D1D1D"/>
                </a:solidFill>
                <a:latin typeface="Arial"/>
                <a:cs typeface="Arial"/>
              </a:rPr>
              <a:t>10</a:t>
            </a:r>
            <a:r>
              <a:rPr sz="1300" dirty="0">
                <a:solidFill>
                  <a:srgbClr val="1D1D1D"/>
                </a:solidFill>
                <a:latin typeface="Arial"/>
                <a:cs typeface="Arial"/>
              </a:rPr>
              <a:t>	</a:t>
            </a:r>
            <a:r>
              <a:rPr sz="1300" spc="-65" dirty="0">
                <a:solidFill>
                  <a:srgbClr val="1D1D1D"/>
                </a:solidFill>
                <a:latin typeface="Arial"/>
                <a:cs typeface="Arial"/>
              </a:rPr>
              <a:t>К,азір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485</Words>
  <Application>Microsoft Office PowerPoint</Application>
  <PresentationFormat>Широкоэкранный</PresentationFormat>
  <Paragraphs>104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Mypex-gãH TãMuip aypynapblH</vt:lpstr>
      <vt:lpstr>Модульдіц міндеті</vt:lpstr>
      <vt:lpstr>Енгізілетін деректер</vt:lpstr>
      <vt:lpstr>Ыцтималдыц цалай есептеледі</vt:lpstr>
      <vt:lpstr>Жуйе архитектурасы</vt:lpstr>
      <vt:lpstr>Цауіп децгейлері мен ережелер</vt:lpstr>
      <vt:lpstr>Жоба жолы</vt:lpstr>
      <vt:lpstr>Icкe gocy</vt:lpstr>
      <vt:lpstr>Интерфейстер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Жүрек-қан тамыр ауруларын диагностикалау модулі: басынан бүгінге дейін</dc:title>
  <cp:lastModifiedBy>Бекетаев Абдукадир Нурланович</cp:lastModifiedBy>
  <cp:revision>1</cp:revision>
  <dcterms:created xsi:type="dcterms:W3CDTF">2026-10-03T04:25:20Z</dcterms:created>
  <dcterms:modified xsi:type="dcterms:W3CDTF">2026-10-03T05:24:03Z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v12.0.20182.1</vt:lpwstr>
  </property>
  <property fmtid="{D5CDD505-2E9C-101B-9397-08002B2CF9AE}" pid="3" name="Created">
    <vt:filetime>2026-10-03T00:00:00Z</vt:filetime>
  </property>
  <property fmtid="{D5CDD505-2E9C-101B-9397-08002B2CF9AE}" pid="4" name="LastSaved">
    <vt:filetime>2026-10-03T00:00:00Z</vt:filetime>
  </property>
</Properties>
</file>